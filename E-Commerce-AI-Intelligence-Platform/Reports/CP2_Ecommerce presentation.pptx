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" Target="slide1.xml"/><Relationship Id="rId2" Type="http://schemas.openxmlformats.org/officeDocument/2006/relationships/slide" Target="slide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" Target="slide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" Target="slide3.xml"/><Relationship Id="rId2" Type="http://schemas.openxmlformats.org/officeDocument/2006/relationships/slide" Target="slide5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" Target="slide4.xml"/><Relationship Id="rId2" Type="http://schemas.openxmlformats.org/officeDocument/2006/relationships/slide" Target="slide6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" Target="slide5.xml"/><Relationship Id="rId2" Type="http://schemas.openxmlformats.org/officeDocument/2006/relationships/slide" Target="slide7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" Target="slide6.xml"/><Relationship Id="rId2" Type="http://schemas.openxmlformats.org/officeDocument/2006/relationships/slide" Target="slide8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" Target="slide7.xml"/><Relationship Id="rId2" Type="http://schemas.openxmlformats.org/officeDocument/2006/relationships/slide" Target="slide9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" Target="slide8.xml"/><Relationship Id="rId2" Type="http://schemas.openxmlformats.org/officeDocument/2006/relationships/slide" Target="slide10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" Target="slide9.xml"/><Relationship Id="rId2" Type="http://schemas.openxmlformats.org/officeDocument/2006/relationships/slide" Target="slide11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" Target="slide10.xml"/><Relationship Id="rId2" Type="http://schemas.openxmlformats.org/officeDocument/2006/relationships/slide" Target="slide1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" Target="slide11.xml"/><Relationship Id="rId2" Type="http://schemas.openxmlformats.org/officeDocument/2006/relationships/slide" Target="slide1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" Target="slide12.xml"/><Relationship Id="rId2" Type="http://schemas.openxmlformats.org/officeDocument/2006/relationships/slide" Target="slide1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" Target="slide13.xml"/><Relationship Id="rId2" Type="http://schemas.openxmlformats.org/officeDocument/2006/relationships/slide" Target="slide15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" Target="slide14.xml"/><Relationship Id="rId2" Type="http://schemas.openxmlformats.org/officeDocument/2006/relationships/slide" Target="slide16.xml"/><Relationship Id="rId3" Type="http://schemas.openxmlformats.org/officeDocument/2006/relationships/image" Target="../media/image-15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" Target="slide1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0E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4297680" cy="5943600"/>
          </a:xfrm>
          <a:prstGeom prst="ellipse">
            <a:avLst/>
          </a:prstGeom>
          <a:solidFill>
            <a:srgbClr val="9985FF">
              <a:alpha val="14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03920" y="914400"/>
            <a:ext cx="3383280" cy="4023360"/>
          </a:xfrm>
          <a:prstGeom prst="ellipse">
            <a:avLst/>
          </a:prstGeom>
          <a:solidFill>
            <a:srgbClr val="49D5FF">
              <a:alpha val="1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" y="1051560"/>
            <a:ext cx="2240280" cy="320040"/>
          </a:xfrm>
          <a:prstGeom prst="roundRect">
            <a:avLst>
              <a:gd name="adj" fmla="val 42857"/>
            </a:avLst>
          </a:prstGeom>
          <a:solidFill>
            <a:srgbClr val="9985FF">
              <a:alpha val="18000"/>
            </a:srgbClr>
          </a:solidFill>
          <a:ln w="12700">
            <a:solidFill>
              <a:srgbClr val="9985FF">
                <a:alpha val="7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1101852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985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CAPSTONE PROJECT 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49808" y="1719072"/>
            <a:ext cx="88696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700" b="1" dirty="0">
                <a:solidFill>
                  <a:srgbClr val="F4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E-COMMERCE AI</a:t>
            </a:r>
            <a:endParaRPr lang="en-US" sz="4700" dirty="0"/>
          </a:p>
          <a:p>
            <a:pPr indent="0" marL="0">
              <a:buNone/>
            </a:pPr>
            <a:r>
              <a:rPr lang="en-US" sz="4700" b="1" dirty="0">
                <a:solidFill>
                  <a:srgbClr val="F4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INTELLIGENCE</a:t>
            </a:r>
            <a:endParaRPr lang="en-US" sz="4700" dirty="0"/>
          </a:p>
          <a:p>
            <a:pPr indent="0" marL="0">
              <a:buNone/>
            </a:pPr>
            <a:r>
              <a:rPr lang="en-US" sz="4700" b="1" dirty="0">
                <a:solidFill>
                  <a:srgbClr val="F4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PLATFORM</a:t>
            </a:r>
            <a:endParaRPr lang="en-US" sz="4700" dirty="0"/>
          </a:p>
        </p:txBody>
      </p:sp>
      <p:sp>
        <p:nvSpPr>
          <p:cNvPr id="7" name="Text 5"/>
          <p:cNvSpPr/>
          <p:nvPr/>
        </p:nvSpPr>
        <p:spPr>
          <a:xfrm>
            <a:off x="777240" y="4599432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6B7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Purchase intent prediction  •  Hybrid product recommendations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77240" y="5321808"/>
            <a:ext cx="960120" cy="320040"/>
          </a:xfrm>
          <a:prstGeom prst="roundRect">
            <a:avLst>
              <a:gd name="adj" fmla="val 42857"/>
            </a:avLst>
          </a:prstGeom>
          <a:solidFill>
            <a:srgbClr val="49D5FF">
              <a:alpha val="18000"/>
            </a:srgbClr>
          </a:solidFill>
          <a:ln w="12700">
            <a:solidFill>
              <a:srgbClr val="49D5FF">
                <a:alpha val="7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5372100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9D5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92808" y="5321808"/>
            <a:ext cx="2331720" cy="320040"/>
          </a:xfrm>
          <a:prstGeom prst="roundRect">
            <a:avLst>
              <a:gd name="adj" fmla="val 42857"/>
            </a:avLst>
          </a:prstGeom>
          <a:solidFill>
            <a:srgbClr val="9985FF">
              <a:alpha val="18000"/>
            </a:srgbClr>
          </a:solidFill>
          <a:ln w="12700">
            <a:solidFill>
              <a:srgbClr val="9985FF">
                <a:alpha val="7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84248" y="5372100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985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RECOMMENDATION ENGINE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389120" y="5321808"/>
            <a:ext cx="1280160" cy="320040"/>
          </a:xfrm>
          <a:prstGeom prst="roundRect">
            <a:avLst>
              <a:gd name="adj" fmla="val 42857"/>
            </a:avLst>
          </a:prstGeom>
          <a:solidFill>
            <a:srgbClr val="55E4C1">
              <a:alpha val="18000"/>
            </a:srgbClr>
          </a:solidFill>
          <a:ln w="12700">
            <a:solidFill>
              <a:srgbClr val="55E4C1">
                <a:alpha val="7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80560" y="537210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5E4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STREAMLIT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77240" y="644652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6B7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RETAILROCKET  /  PYTHON  /  TENSORFLOW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90E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-1097280"/>
            <a:ext cx="3657600" cy="3657600"/>
          </a:xfrm>
          <a:prstGeom prst="ellipse">
            <a:avLst/>
          </a:prstGeom>
          <a:solidFill>
            <a:srgbClr val="9985FF">
              <a:alpha val="6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4937760"/>
            <a:ext cx="3200400" cy="3200400"/>
          </a:xfrm>
          <a:prstGeom prst="ellipse">
            <a:avLst/>
          </a:prstGeom>
          <a:solidFill>
            <a:srgbClr val="49D5FF">
              <a:alpha val="4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657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49D5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/ WHY THIS MATTERS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94360" y="768096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4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business problem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594360" y="1481328"/>
            <a:ext cx="11000232" cy="0"/>
          </a:xfrm>
          <a:prstGeom prst="line">
            <a:avLst/>
          </a:prstGeom>
          <a:noFill/>
          <a:ln w="11430">
            <a:solidFill>
              <a:srgbClr val="334474"/>
            </a:solidFill>
            <a:prstDash val="solid"/>
            <a:headEnd type="none"/>
            <a:tailEnd type="none"/>
          </a:ln>
        </p:spPr>
      </p:sp>
      <p:sp>
        <p:nvSpPr>
          <p:cNvPr id="7" name="Text 5"/>
          <p:cNvSpPr/>
          <p:nvPr/>
        </p:nvSpPr>
        <p:spPr>
          <a:xfrm>
            <a:off x="594360" y="652881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6B7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CP2  /  E-COMMERCE AI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698480" y="6528816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B7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/ 16</a:t>
            </a:r>
            <a:endParaRPr lang="en-US" sz="900" dirty="0"/>
          </a:p>
        </p:txBody>
      </p:sp>
      <p:sp>
        <p:nvSpPr>
          <p:cNvPr id="9" name="Shape 7">
            <a:hlinkClick r:id="rId1" tooltip="" action="ppaction://hlinksldjump"/>
          </p:cNvPr>
          <p:cNvSpPr/>
          <p:nvPr/>
        </p:nvSpPr>
        <p:spPr>
          <a:xfrm rot="10800000">
            <a:off x="10469880" y="6419088"/>
            <a:ext cx="210312" cy="219456"/>
          </a:xfrm>
          <a:prstGeom prst="chevron">
            <a:avLst/>
          </a:prstGeom>
          <a:solidFill>
            <a:srgbClr val="A6B7D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0" name="Shape 8">
            <a:hlinkClick r:id="rId2" tooltip="" action="ppaction://hlinksldjump"/>
          </p:cNvPr>
          <p:cNvSpPr/>
          <p:nvPr/>
        </p:nvSpPr>
        <p:spPr>
          <a:xfrm>
            <a:off x="11631168" y="6419088"/>
            <a:ext cx="210312" cy="219456"/>
          </a:xfrm>
          <a:prstGeom prst="chevron">
            <a:avLst/>
          </a:prstGeom>
          <a:solidFill>
            <a:srgbClr val="49D5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1965960"/>
            <a:ext cx="3563112" cy="1417320"/>
          </a:xfrm>
          <a:prstGeom prst="roundRect">
            <a:avLst>
              <a:gd name="adj" fmla="val 14194"/>
            </a:avLst>
          </a:prstGeom>
          <a:solidFill>
            <a:srgbClr val="151E3A"/>
          </a:solidFill>
          <a:ln w="10160">
            <a:solidFill>
              <a:srgbClr val="334474"/>
            </a:solidFill>
            <a:prstDash val="solid"/>
          </a:ln>
          <a:effectLst>
            <a:outerShdw sx="100000" sy="100000" kx="0" ky="0" algn="bl" rotWithShape="0" blurRad="152400" dist="50800" dir="2700000">
              <a:srgbClr val="020515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" y="2185416"/>
            <a:ext cx="54864" cy="329184"/>
          </a:xfrm>
          <a:prstGeom prst="rect">
            <a:avLst/>
          </a:prstGeom>
          <a:solidFill>
            <a:srgbClr val="49D5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41832" y="2139696"/>
            <a:ext cx="3014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 conversion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13816" y="2624328"/>
            <a:ext cx="3124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6B7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Browsing activity rarely becomes a transaction.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322064" y="1965960"/>
            <a:ext cx="3563112" cy="1417320"/>
          </a:xfrm>
          <a:prstGeom prst="roundRect">
            <a:avLst>
              <a:gd name="adj" fmla="val 14194"/>
            </a:avLst>
          </a:prstGeom>
          <a:solidFill>
            <a:srgbClr val="151E3A"/>
          </a:solidFill>
          <a:ln w="10160">
            <a:solidFill>
              <a:srgbClr val="334474"/>
            </a:solidFill>
            <a:prstDash val="solid"/>
          </a:ln>
          <a:effectLst>
            <a:outerShdw sx="100000" sy="100000" kx="0" ky="0" algn="bl" rotWithShape="0" blurRad="1935480000" dist="645160000" dir="162000000000">
              <a:srgbClr val="020515">
                <a:alpha val="350000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04944" y="2185416"/>
            <a:ext cx="54864" cy="329184"/>
          </a:xfrm>
          <a:prstGeom prst="rect">
            <a:avLst/>
          </a:prstGeom>
          <a:solidFill>
            <a:srgbClr val="9985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9536" y="2139696"/>
            <a:ext cx="3014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Anonymous behavior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541520" y="2624328"/>
            <a:ext cx="3124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6B7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Raw clicks hide buying intent.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049768" y="1965960"/>
            <a:ext cx="3563112" cy="1417320"/>
          </a:xfrm>
          <a:prstGeom prst="roundRect">
            <a:avLst>
              <a:gd name="adj" fmla="val 14194"/>
            </a:avLst>
          </a:prstGeom>
          <a:solidFill>
            <a:srgbClr val="151E3A"/>
          </a:solidFill>
          <a:ln w="10160">
            <a:solidFill>
              <a:srgbClr val="334474"/>
            </a:solidFill>
            <a:prstDash val="solid"/>
          </a:ln>
          <a:effectLst>
            <a:outerShdw sx="100000" sy="100000" kx="0" ky="0" algn="bl" rotWithShape="0" blurRad="24580596000000" dist="8193532000000" dir="9720000000000000">
              <a:srgbClr val="020515">
                <a:alpha val="35000000000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232648" y="2185416"/>
            <a:ext cx="54864" cy="329184"/>
          </a:xfrm>
          <a:prstGeom prst="rect">
            <a:avLst/>
          </a:prstGeom>
          <a:solidFill>
            <a:srgbClr val="55E4C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97240" y="2139696"/>
            <a:ext cx="3014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 discovery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8269224" y="2624328"/>
            <a:ext cx="3124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6B7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Large catalogs make relevant items hard to find.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94360" y="4069080"/>
            <a:ext cx="11018520" cy="1325880"/>
          </a:xfrm>
          <a:prstGeom prst="roundRect">
            <a:avLst>
              <a:gd name="adj" fmla="val 15172"/>
            </a:avLst>
          </a:prstGeom>
          <a:solidFill>
            <a:srgbClr val="1C2850"/>
          </a:solidFill>
          <a:ln w="10160">
            <a:solidFill>
              <a:srgbClr val="334474"/>
            </a:solidFill>
            <a:prstDash val="solid"/>
          </a:ln>
          <a:effectLst>
            <a:outerShdw sx="100000" sy="100000" kx="0" ky="0" algn="bl" rotWithShape="0" blurRad="312173569200000000" dist="104057856400000000" dir="583200000000000000000">
              <a:srgbClr val="020515">
                <a:alpha val="3500000000000000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868680" y="431596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9D5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OPPORTUNITY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68680" y="4663440"/>
            <a:ext cx="10241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4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Turn customer behavior into timely predictions and relevant recommendations.</a:t>
            </a:r>
            <a:endParaRPr lang="en-US" sz="2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90E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-1097280"/>
            <a:ext cx="3657600" cy="3657600"/>
          </a:xfrm>
          <a:prstGeom prst="ellipse">
            <a:avLst/>
          </a:prstGeom>
          <a:solidFill>
            <a:srgbClr val="9985FF">
              <a:alpha val="6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4937760"/>
            <a:ext cx="3200400" cy="3200400"/>
          </a:xfrm>
          <a:prstGeom prst="ellipse">
            <a:avLst/>
          </a:prstGeom>
          <a:solidFill>
            <a:srgbClr val="49D5FF">
              <a:alpha val="4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657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49D5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/ WHAT WE BUILT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94360" y="768096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4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objectives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594360" y="1481328"/>
            <a:ext cx="11000232" cy="0"/>
          </a:xfrm>
          <a:prstGeom prst="line">
            <a:avLst/>
          </a:prstGeom>
          <a:noFill/>
          <a:ln w="11430">
            <a:solidFill>
              <a:srgbClr val="334474"/>
            </a:solidFill>
            <a:prstDash val="solid"/>
            <a:headEnd type="none"/>
            <a:tailEnd type="none"/>
          </a:ln>
        </p:spPr>
      </p:sp>
      <p:sp>
        <p:nvSpPr>
          <p:cNvPr id="7" name="Text 5"/>
          <p:cNvSpPr/>
          <p:nvPr/>
        </p:nvSpPr>
        <p:spPr>
          <a:xfrm>
            <a:off x="594360" y="652881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6B7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CP2  /  E-COMMERCE AI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698480" y="6528816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B7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/ 16</a:t>
            </a:r>
            <a:endParaRPr lang="en-US" sz="900" dirty="0"/>
          </a:p>
        </p:txBody>
      </p:sp>
      <p:sp>
        <p:nvSpPr>
          <p:cNvPr id="9" name="Shape 7">
            <a:hlinkClick r:id="rId1" tooltip="" action="ppaction://hlinksldjump"/>
          </p:cNvPr>
          <p:cNvSpPr/>
          <p:nvPr/>
        </p:nvSpPr>
        <p:spPr>
          <a:xfrm rot="10800000">
            <a:off x="10469880" y="6419088"/>
            <a:ext cx="210312" cy="219456"/>
          </a:xfrm>
          <a:prstGeom prst="chevron">
            <a:avLst/>
          </a:prstGeom>
          <a:solidFill>
            <a:srgbClr val="A6B7D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0" name="Shape 8">
            <a:hlinkClick r:id="rId2" tooltip="" action="ppaction://hlinksldjump"/>
          </p:cNvPr>
          <p:cNvSpPr/>
          <p:nvPr/>
        </p:nvSpPr>
        <p:spPr>
          <a:xfrm>
            <a:off x="11631168" y="6419088"/>
            <a:ext cx="210312" cy="219456"/>
          </a:xfrm>
          <a:prstGeom prst="chevron">
            <a:avLst/>
          </a:prstGeom>
          <a:solidFill>
            <a:srgbClr val="49D5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1874520"/>
            <a:ext cx="3563112" cy="1417320"/>
          </a:xfrm>
          <a:prstGeom prst="roundRect">
            <a:avLst>
              <a:gd name="adj" fmla="val 14194"/>
            </a:avLst>
          </a:prstGeom>
          <a:solidFill>
            <a:srgbClr val="151E3A"/>
          </a:solidFill>
          <a:ln w="10160">
            <a:solidFill>
              <a:srgbClr val="334474"/>
            </a:solidFill>
            <a:prstDash val="solid"/>
          </a:ln>
          <a:effectLst>
            <a:outerShdw sx="100000" sy="100000" kx="0" ky="0" algn="bl" rotWithShape="0" blurRad="3.96460432884e+21" dist="1.32153477628e+21" dir="3.4992e+25">
              <a:srgbClr val="020515">
                <a:alpha val="3.5e+24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" y="2093976"/>
            <a:ext cx="54864" cy="329184"/>
          </a:xfrm>
          <a:prstGeom prst="rect">
            <a:avLst/>
          </a:prstGeom>
          <a:solidFill>
            <a:srgbClr val="49D5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41832" y="2048256"/>
            <a:ext cx="3014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 Predict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13816" y="2532888"/>
            <a:ext cx="3124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6B7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Estimate purchase within the next 24 hours.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322064" y="1874520"/>
            <a:ext cx="3563112" cy="1417320"/>
          </a:xfrm>
          <a:prstGeom prst="roundRect">
            <a:avLst>
              <a:gd name="adj" fmla="val 14194"/>
            </a:avLst>
          </a:prstGeom>
          <a:solidFill>
            <a:srgbClr val="151E3A"/>
          </a:solidFill>
          <a:ln w="10160">
            <a:solidFill>
              <a:srgbClr val="334474"/>
            </a:solidFill>
            <a:prstDash val="solid"/>
          </a:ln>
          <a:effectLst>
            <a:outerShdw sx="100000" sy="100000" kx="0" ky="0" algn="bl" rotWithShape="0" blurRad="5.0350474976268e+25" dist="1.6783491658756e+25" dir="2.09952e+30">
              <a:srgbClr val="020515">
                <a:alpha val="3.5000000000000005e+29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04944" y="2093976"/>
            <a:ext cx="54864" cy="329184"/>
          </a:xfrm>
          <a:prstGeom prst="rect">
            <a:avLst/>
          </a:prstGeom>
          <a:solidFill>
            <a:srgbClr val="9985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9536" y="2048256"/>
            <a:ext cx="3014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 Recommend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541520" y="2532888"/>
            <a:ext cx="3124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6B7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Rank products using interactions and category similarity.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049768" y="1874520"/>
            <a:ext cx="3563112" cy="1417320"/>
          </a:xfrm>
          <a:prstGeom prst="roundRect">
            <a:avLst>
              <a:gd name="adj" fmla="val 14194"/>
            </a:avLst>
          </a:prstGeom>
          <a:solidFill>
            <a:srgbClr val="151E3A"/>
          </a:solidFill>
          <a:ln w="10160">
            <a:solidFill>
              <a:srgbClr val="334474"/>
            </a:solidFill>
            <a:prstDash val="solid"/>
          </a:ln>
          <a:effectLst>
            <a:outerShdw sx="100000" sy="100000" kx="0" ky="0" algn="bl" rotWithShape="0" blurRad="6.394510321986036e+29" dist="2.1315034406620118e+29" dir="1.259712e+35">
              <a:srgbClr val="020515">
                <a:alpha val="3.5000000000000004e+34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232648" y="2093976"/>
            <a:ext cx="54864" cy="329184"/>
          </a:xfrm>
          <a:prstGeom prst="rect">
            <a:avLst/>
          </a:prstGeom>
          <a:solidFill>
            <a:srgbClr val="55E4C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97240" y="2048256"/>
            <a:ext cx="3014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 Deploy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8269224" y="2532888"/>
            <a:ext cx="3124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6B7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 both models usable through an interactive website.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94360" y="4069080"/>
            <a:ext cx="3520440" cy="1298448"/>
          </a:xfrm>
          <a:prstGeom prst="roundRect">
            <a:avLst>
              <a:gd name="adj" fmla="val 15493"/>
            </a:avLst>
          </a:prstGeom>
          <a:solidFill>
            <a:srgbClr val="151E3A"/>
          </a:solidFill>
          <a:ln w="10160">
            <a:solidFill>
              <a:srgbClr val="334474"/>
            </a:solidFill>
            <a:prstDash val="solid"/>
          </a:ln>
          <a:effectLst>
            <a:outerShdw sx="100000" sy="100000" kx="0" ky="0" algn="bl" rotWithShape="0" blurRad="8.121028108922265e+33" dist="2.707009369640755e+33" dir="7.558272e+39">
              <a:srgbClr val="020515">
                <a:alpha val="3.5e+39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58952" y="4224528"/>
            <a:ext cx="31912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6B7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DEEP LEARNING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58952" y="4507992"/>
            <a:ext cx="31912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9D5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</a:t>
            </a:r>
            <a:endParaRPr lang="en-US" sz="3000" dirty="0"/>
          </a:p>
        </p:txBody>
      </p:sp>
      <p:sp>
        <p:nvSpPr>
          <p:cNvPr id="26" name="Shape 24"/>
          <p:cNvSpPr/>
          <p:nvPr/>
        </p:nvSpPr>
        <p:spPr>
          <a:xfrm>
            <a:off x="4325112" y="4069080"/>
            <a:ext cx="3520440" cy="1298448"/>
          </a:xfrm>
          <a:prstGeom prst="roundRect">
            <a:avLst>
              <a:gd name="adj" fmla="val 15493"/>
            </a:avLst>
          </a:prstGeom>
          <a:solidFill>
            <a:srgbClr val="151E3A"/>
          </a:solidFill>
          <a:ln w="10160">
            <a:solidFill>
              <a:srgbClr val="334474"/>
            </a:solidFill>
            <a:prstDash val="solid"/>
          </a:ln>
          <a:effectLst>
            <a:outerShdw sx="100000" sy="100000" kx="0" ky="0" algn="bl" rotWithShape="0" blurRad="1.0313705698331276e+38" dist="3.437901899443759e+37" dir="4.5349632000000006e+44">
              <a:srgbClr val="020515">
                <a:alpha val="3.5000000000000003e+44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489704" y="4224528"/>
            <a:ext cx="31912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6B7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RECOMMENDATION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489704" y="4507992"/>
            <a:ext cx="31912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985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HYBRID</a:t>
            </a:r>
            <a:endParaRPr lang="en-US" sz="3000" dirty="0"/>
          </a:p>
        </p:txBody>
      </p:sp>
      <p:sp>
        <p:nvSpPr>
          <p:cNvPr id="29" name="Shape 27"/>
          <p:cNvSpPr/>
          <p:nvPr/>
        </p:nvSpPr>
        <p:spPr>
          <a:xfrm>
            <a:off x="8092440" y="4069080"/>
            <a:ext cx="3520440" cy="1298448"/>
          </a:xfrm>
          <a:prstGeom prst="roundRect">
            <a:avLst>
              <a:gd name="adj" fmla="val 15493"/>
            </a:avLst>
          </a:prstGeom>
          <a:solidFill>
            <a:srgbClr val="151E3A"/>
          </a:solidFill>
          <a:ln w="10160">
            <a:solidFill>
              <a:srgbClr val="334474"/>
            </a:solidFill>
            <a:prstDash val="solid"/>
          </a:ln>
          <a:effectLst>
            <a:outerShdw sx="100000" sy="100000" kx="0" ky="0" algn="bl" rotWithShape="0" blurRad="1.3098406236880721e+42" dist="4.366135412293574e+41" dir="2.72097792e+49">
              <a:srgbClr val="020515">
                <a:alpha val="3.5000000000000003e+49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8257032" y="4224528"/>
            <a:ext cx="31912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6B7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APPLICATION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257032" y="4507992"/>
            <a:ext cx="31912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5E4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STREAMLIT</a:t>
            </a:r>
            <a:endParaRPr lang="en-US" sz="3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90E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-1097280"/>
            <a:ext cx="3657600" cy="3657600"/>
          </a:xfrm>
          <a:prstGeom prst="ellipse">
            <a:avLst/>
          </a:prstGeom>
          <a:solidFill>
            <a:srgbClr val="9985FF">
              <a:alpha val="6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4937760"/>
            <a:ext cx="3200400" cy="3200400"/>
          </a:xfrm>
          <a:prstGeom prst="ellipse">
            <a:avLst/>
          </a:prstGeom>
          <a:solidFill>
            <a:srgbClr val="49D5FF">
              <a:alpha val="4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657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49D5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/ DATA FOUNDATION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94360" y="768096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4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RetailRocket dataset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594360" y="1481328"/>
            <a:ext cx="11000232" cy="0"/>
          </a:xfrm>
          <a:prstGeom prst="line">
            <a:avLst/>
          </a:prstGeom>
          <a:noFill/>
          <a:ln w="11430">
            <a:solidFill>
              <a:srgbClr val="334474"/>
            </a:solidFill>
            <a:prstDash val="solid"/>
            <a:headEnd type="none"/>
            <a:tailEnd type="none"/>
          </a:ln>
        </p:spPr>
      </p:sp>
      <p:sp>
        <p:nvSpPr>
          <p:cNvPr id="7" name="Text 5"/>
          <p:cNvSpPr/>
          <p:nvPr/>
        </p:nvSpPr>
        <p:spPr>
          <a:xfrm>
            <a:off x="594360" y="652881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6B7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CP2  /  E-COMMERCE AI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698480" y="6528816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B7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/ 16</a:t>
            </a:r>
            <a:endParaRPr lang="en-US" sz="900" dirty="0"/>
          </a:p>
        </p:txBody>
      </p:sp>
      <p:sp>
        <p:nvSpPr>
          <p:cNvPr id="9" name="Shape 7">
            <a:hlinkClick r:id="rId1" tooltip="" action="ppaction://hlinksldjump"/>
          </p:cNvPr>
          <p:cNvSpPr/>
          <p:nvPr/>
        </p:nvSpPr>
        <p:spPr>
          <a:xfrm rot="10800000">
            <a:off x="10469880" y="6419088"/>
            <a:ext cx="210312" cy="219456"/>
          </a:xfrm>
          <a:prstGeom prst="chevron">
            <a:avLst/>
          </a:prstGeom>
          <a:solidFill>
            <a:srgbClr val="A6B7D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0" name="Shape 8">
            <a:hlinkClick r:id="rId2" tooltip="" action="ppaction://hlinksldjump"/>
          </p:cNvPr>
          <p:cNvSpPr/>
          <p:nvPr/>
        </p:nvSpPr>
        <p:spPr>
          <a:xfrm>
            <a:off x="11631168" y="6419088"/>
            <a:ext cx="210312" cy="219456"/>
          </a:xfrm>
          <a:prstGeom prst="chevron">
            <a:avLst/>
          </a:prstGeom>
          <a:solidFill>
            <a:srgbClr val="49D5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1856232"/>
            <a:ext cx="3456432" cy="1298448"/>
          </a:xfrm>
          <a:prstGeom prst="roundRect">
            <a:avLst>
              <a:gd name="adj" fmla="val 15493"/>
            </a:avLst>
          </a:prstGeom>
          <a:solidFill>
            <a:srgbClr val="151E3A"/>
          </a:solidFill>
          <a:ln w="10160">
            <a:solidFill>
              <a:srgbClr val="334474"/>
            </a:solidFill>
            <a:prstDash val="solid"/>
          </a:ln>
          <a:effectLst>
            <a:outerShdw sx="100000" sy="100000" kx="0" ky="0" algn="bl" rotWithShape="0" blurRad="1.6634975920838516e+46" dist="5.544991973612839e+45" dir="1.6325867520000003e+54">
              <a:srgbClr val="020515">
                <a:alpha val="3.5e+54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58952" y="2011680"/>
            <a:ext cx="3127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6B7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EVENTS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58952" y="2295144"/>
            <a:ext cx="31272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9D5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2.756M</a:t>
            </a: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4361688" y="1856232"/>
            <a:ext cx="3456432" cy="1298448"/>
          </a:xfrm>
          <a:prstGeom prst="roundRect">
            <a:avLst>
              <a:gd name="adj" fmla="val 15493"/>
            </a:avLst>
          </a:prstGeom>
          <a:solidFill>
            <a:srgbClr val="151E3A"/>
          </a:solidFill>
          <a:ln w="10160">
            <a:solidFill>
              <a:srgbClr val="334474"/>
            </a:solidFill>
            <a:prstDash val="solid"/>
          </a:ln>
          <a:effectLst>
            <a:outerShdw sx="100000" sy="100000" kx="0" ky="0" algn="bl" rotWithShape="0" blurRad="2.1126419419464913e+50" dist="7.042139806488305e+49" dir="9.795520512000002e+58">
              <a:srgbClr val="020515">
                <a:alpha val="3.5e+59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526280" y="2011680"/>
            <a:ext cx="3127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6B7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UNIQUE VISITORS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26280" y="2295144"/>
            <a:ext cx="31272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985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1.408M</a:t>
            </a:r>
            <a:endParaRPr lang="en-US" sz="3000" dirty="0"/>
          </a:p>
        </p:txBody>
      </p:sp>
      <p:sp>
        <p:nvSpPr>
          <p:cNvPr id="17" name="Shape 15"/>
          <p:cNvSpPr/>
          <p:nvPr/>
        </p:nvSpPr>
        <p:spPr>
          <a:xfrm>
            <a:off x="8138160" y="1856232"/>
            <a:ext cx="3456432" cy="1298448"/>
          </a:xfrm>
          <a:prstGeom prst="roundRect">
            <a:avLst>
              <a:gd name="adj" fmla="val 15493"/>
            </a:avLst>
          </a:prstGeom>
          <a:solidFill>
            <a:srgbClr val="151E3A"/>
          </a:solidFill>
          <a:ln w="10160">
            <a:solidFill>
              <a:srgbClr val="334474"/>
            </a:solidFill>
            <a:prstDash val="solid"/>
          </a:ln>
          <a:effectLst>
            <a:outerShdw sx="100000" sy="100000" kx="0" ky="0" algn="bl" rotWithShape="0" blurRad="2.683055266272044e+54" dist="8.943517554240149e+53" dir="5.877312307200001e+63">
              <a:srgbClr val="020515">
                <a:alpha val="3.5000000000000004e+64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302752" y="2011680"/>
            <a:ext cx="3127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6B7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UNIQUE PRODUCTS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302752" y="2295144"/>
            <a:ext cx="31272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5E4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235,061</a:t>
            </a:r>
            <a:endParaRPr lang="en-US" sz="3000" dirty="0"/>
          </a:p>
        </p:txBody>
      </p:sp>
      <p:sp>
        <p:nvSpPr>
          <p:cNvPr id="20" name="Shape 18"/>
          <p:cNvSpPr/>
          <p:nvPr/>
        </p:nvSpPr>
        <p:spPr>
          <a:xfrm>
            <a:off x="594360" y="3749040"/>
            <a:ext cx="3563112" cy="1417320"/>
          </a:xfrm>
          <a:prstGeom prst="roundRect">
            <a:avLst>
              <a:gd name="adj" fmla="val 14194"/>
            </a:avLst>
          </a:prstGeom>
          <a:solidFill>
            <a:srgbClr val="151E3A"/>
          </a:solidFill>
          <a:ln w="10160">
            <a:solidFill>
              <a:srgbClr val="334474"/>
            </a:solidFill>
            <a:prstDash val="solid"/>
          </a:ln>
          <a:effectLst>
            <a:outerShdw sx="100000" sy="100000" kx="0" ky="0" algn="bl" rotWithShape="0" blurRad="3.4074801881654956e+58" dist="1.1358267293884988e+58" dir="3.526387384320001e+68">
              <a:srgbClr val="020515">
                <a:alpha val="3.500000000000001e+69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77240" y="3968496"/>
            <a:ext cx="54864" cy="329184"/>
          </a:xfrm>
          <a:prstGeom prst="rect">
            <a:avLst/>
          </a:prstGeom>
          <a:solidFill>
            <a:srgbClr val="49D5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41832" y="3922776"/>
            <a:ext cx="3014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events.csv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813816" y="4407408"/>
            <a:ext cx="3124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6B7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Timestamp · visitor · event · item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322064" y="3749040"/>
            <a:ext cx="3563112" cy="1417320"/>
          </a:xfrm>
          <a:prstGeom prst="roundRect">
            <a:avLst>
              <a:gd name="adj" fmla="val 14194"/>
            </a:avLst>
          </a:prstGeom>
          <a:solidFill>
            <a:srgbClr val="151E3A"/>
          </a:solidFill>
          <a:ln w="10160">
            <a:solidFill>
              <a:srgbClr val="334474"/>
            </a:solidFill>
            <a:prstDash val="solid"/>
          </a:ln>
          <a:effectLst>
            <a:outerShdw sx="100000" sy="100000" kx="0" ky="0" algn="bl" rotWithShape="0" blurRad="4.32749983897018e+62" dist="1.4424999463233936e+62" dir="2.1158324305920003e+73">
              <a:srgbClr val="020515">
                <a:alpha val="3.5000000000000006e+74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04944" y="3968496"/>
            <a:ext cx="54864" cy="329184"/>
          </a:xfrm>
          <a:prstGeom prst="rect">
            <a:avLst/>
          </a:prstGeom>
          <a:solidFill>
            <a:srgbClr val="9985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69536" y="3922776"/>
            <a:ext cx="3014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item_properties × 2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4541520" y="4407408"/>
            <a:ext cx="3124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6B7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 properties and availability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049768" y="3749040"/>
            <a:ext cx="3563112" cy="1417320"/>
          </a:xfrm>
          <a:prstGeom prst="roundRect">
            <a:avLst>
              <a:gd name="adj" fmla="val 14194"/>
            </a:avLst>
          </a:prstGeom>
          <a:solidFill>
            <a:srgbClr val="151E3A"/>
          </a:solidFill>
          <a:ln w="10160">
            <a:solidFill>
              <a:srgbClr val="334474"/>
            </a:solidFill>
            <a:prstDash val="solid"/>
          </a:ln>
          <a:effectLst>
            <a:outerShdw sx="100000" sy="100000" kx="0" ky="0" algn="bl" rotWithShape="0" blurRad="5.495924795492128e+66" dist="1.83197493183071e+66" dir="1.2694994583552002e+78">
              <a:srgbClr val="020515">
                <a:alpha val="3.5000000000000005e+79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232648" y="3968496"/>
            <a:ext cx="54864" cy="329184"/>
          </a:xfrm>
          <a:prstGeom prst="rect">
            <a:avLst/>
          </a:prstGeom>
          <a:solidFill>
            <a:srgbClr val="55E4C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397240" y="3922776"/>
            <a:ext cx="3014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category_tree.csv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8269224" y="4407408"/>
            <a:ext cx="3124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6B7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Category-to-parent hierarchy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85800" y="5833872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6B7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Historical activity: May–September 2015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90E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-1097280"/>
            <a:ext cx="3657600" cy="3657600"/>
          </a:xfrm>
          <a:prstGeom prst="ellipse">
            <a:avLst/>
          </a:prstGeom>
          <a:solidFill>
            <a:srgbClr val="9985FF">
              <a:alpha val="6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4937760"/>
            <a:ext cx="3200400" cy="3200400"/>
          </a:xfrm>
          <a:prstGeom prst="ellipse">
            <a:avLst/>
          </a:prstGeom>
          <a:solidFill>
            <a:srgbClr val="49D5FF">
              <a:alpha val="4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657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49D5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/ SOLUTION FLOW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94360" y="768096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4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End-to-end architecture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594360" y="1481328"/>
            <a:ext cx="11000232" cy="0"/>
          </a:xfrm>
          <a:prstGeom prst="line">
            <a:avLst/>
          </a:prstGeom>
          <a:noFill/>
          <a:ln w="11430">
            <a:solidFill>
              <a:srgbClr val="334474"/>
            </a:solidFill>
            <a:prstDash val="solid"/>
            <a:headEnd type="none"/>
            <a:tailEnd type="none"/>
          </a:ln>
        </p:spPr>
      </p:sp>
      <p:sp>
        <p:nvSpPr>
          <p:cNvPr id="7" name="Text 5"/>
          <p:cNvSpPr/>
          <p:nvPr/>
        </p:nvSpPr>
        <p:spPr>
          <a:xfrm>
            <a:off x="594360" y="652881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6B7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CP2  /  E-COMMERCE AI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698480" y="6528816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B7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/ 16</a:t>
            </a:r>
            <a:endParaRPr lang="en-US" sz="900" dirty="0"/>
          </a:p>
        </p:txBody>
      </p:sp>
      <p:sp>
        <p:nvSpPr>
          <p:cNvPr id="9" name="Shape 7">
            <a:hlinkClick r:id="rId1" tooltip="" action="ppaction://hlinksldjump"/>
          </p:cNvPr>
          <p:cNvSpPr/>
          <p:nvPr/>
        </p:nvSpPr>
        <p:spPr>
          <a:xfrm rot="10800000">
            <a:off x="10469880" y="6419088"/>
            <a:ext cx="210312" cy="219456"/>
          </a:xfrm>
          <a:prstGeom prst="chevron">
            <a:avLst/>
          </a:prstGeom>
          <a:solidFill>
            <a:srgbClr val="A6B7D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0" name="Shape 8">
            <a:hlinkClick r:id="rId2" tooltip="" action="ppaction://hlinksldjump"/>
          </p:cNvPr>
          <p:cNvSpPr/>
          <p:nvPr/>
        </p:nvSpPr>
        <p:spPr>
          <a:xfrm>
            <a:off x="11631168" y="6419088"/>
            <a:ext cx="210312" cy="219456"/>
          </a:xfrm>
          <a:prstGeom prst="chevron">
            <a:avLst/>
          </a:prstGeom>
          <a:solidFill>
            <a:srgbClr val="49D5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30352" y="2176272"/>
            <a:ext cx="2084832" cy="1920240"/>
          </a:xfrm>
          <a:prstGeom prst="roundRect">
            <a:avLst>
              <a:gd name="adj" fmla="val 10476"/>
            </a:avLst>
          </a:prstGeom>
          <a:solidFill>
            <a:srgbClr val="151E3A"/>
          </a:solidFill>
          <a:ln w="10160">
            <a:solidFill>
              <a:srgbClr val="334474"/>
            </a:solidFill>
            <a:prstDash val="solid"/>
          </a:ln>
          <a:effectLst>
            <a:outerShdw sx="100000" sy="100000" kx="0" ky="0" algn="bl" rotWithShape="0" blurRad="6.979824490275003e+70" dist="2.3266081634250016e+70" dir="7.616996750131201e+82">
              <a:srgbClr val="020515">
                <a:alpha val="3.5000000000000003e+84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67512" y="2596896"/>
            <a:ext cx="18105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4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RetailRocket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694944" y="3227832"/>
            <a:ext cx="17556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6B7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 + item data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615184" y="2779776"/>
            <a:ext cx="265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9D5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2871216" y="2176272"/>
            <a:ext cx="2084832" cy="1920240"/>
          </a:xfrm>
          <a:prstGeom prst="roundRect">
            <a:avLst>
              <a:gd name="adj" fmla="val 10476"/>
            </a:avLst>
          </a:prstGeom>
          <a:solidFill>
            <a:srgbClr val="1C2850"/>
          </a:solidFill>
          <a:ln w="10160">
            <a:solidFill>
              <a:srgbClr val="334474"/>
            </a:solidFill>
            <a:prstDash val="solid"/>
          </a:ln>
          <a:effectLst>
            <a:outerShdw sx="100000" sy="100000" kx="0" ky="0" algn="bl" rotWithShape="0" blurRad="8.864377102649254e+74" dist="2.954792367549752e+74" dir="4.57019805007872e+87">
              <a:srgbClr val="020515">
                <a:alpha val="3.5e+89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008376" y="2596896"/>
            <a:ext cx="18105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4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 pipeline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3035808" y="3227832"/>
            <a:ext cx="17556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6B7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Sessions + labels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56048" y="2779776"/>
            <a:ext cx="265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9D5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5212080" y="2176272"/>
            <a:ext cx="2084832" cy="1920240"/>
          </a:xfrm>
          <a:prstGeom prst="roundRect">
            <a:avLst>
              <a:gd name="adj" fmla="val 10476"/>
            </a:avLst>
          </a:prstGeom>
          <a:solidFill>
            <a:srgbClr val="151E3A"/>
          </a:solidFill>
          <a:ln w="10160">
            <a:solidFill>
              <a:srgbClr val="334474"/>
            </a:solidFill>
            <a:prstDash val="solid"/>
          </a:ln>
          <a:effectLst>
            <a:outerShdw sx="100000" sy="100000" kx="0" ky="0" algn="bl" rotWithShape="0" blurRad="1.1257758920364552e+79" dist="3.752586306788185e+78" dir="2.742118830047232e+92">
              <a:srgbClr val="020515">
                <a:alpha val="3.5e+94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349240" y="2596896"/>
            <a:ext cx="18105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4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5376672" y="3227832"/>
            <a:ext cx="17556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6B7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Purchase intent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296912" y="2779776"/>
            <a:ext cx="265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9D5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400" dirty="0"/>
          </a:p>
        </p:txBody>
      </p:sp>
      <p:sp>
        <p:nvSpPr>
          <p:cNvPr id="23" name="Shape 21"/>
          <p:cNvSpPr/>
          <p:nvPr/>
        </p:nvSpPr>
        <p:spPr>
          <a:xfrm>
            <a:off x="7552944" y="2176272"/>
            <a:ext cx="2084832" cy="1920240"/>
          </a:xfrm>
          <a:prstGeom prst="roundRect">
            <a:avLst>
              <a:gd name="adj" fmla="val 10476"/>
            </a:avLst>
          </a:prstGeom>
          <a:solidFill>
            <a:srgbClr val="1C2850"/>
          </a:solidFill>
          <a:ln w="10160">
            <a:solidFill>
              <a:srgbClr val="334474"/>
            </a:solidFill>
            <a:prstDash val="solid"/>
          </a:ln>
          <a:effectLst>
            <a:outerShdw sx="100000" sy="100000" kx="0" ky="0" algn="bl" rotWithShape="0" blurRad="1.429735382886298e+83" dist="4.765784609620995e+82" dir="1.6452712980283393e+97">
              <a:srgbClr val="020515">
                <a:alpha val="3.5e+99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690104" y="2596896"/>
            <a:ext cx="18105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4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Hybrid engine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7717536" y="3227832"/>
            <a:ext cx="17556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6B7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Top-N products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637776" y="2779776"/>
            <a:ext cx="265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9D5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400" dirty="0"/>
          </a:p>
        </p:txBody>
      </p:sp>
      <p:sp>
        <p:nvSpPr>
          <p:cNvPr id="27" name="Shape 25"/>
          <p:cNvSpPr/>
          <p:nvPr/>
        </p:nvSpPr>
        <p:spPr>
          <a:xfrm>
            <a:off x="9893808" y="2176272"/>
            <a:ext cx="2084832" cy="1920240"/>
          </a:xfrm>
          <a:prstGeom prst="roundRect">
            <a:avLst>
              <a:gd name="adj" fmla="val 10476"/>
            </a:avLst>
          </a:prstGeom>
          <a:solidFill>
            <a:srgbClr val="151E3A"/>
          </a:solidFill>
          <a:ln w="10160">
            <a:solidFill>
              <a:srgbClr val="334474"/>
            </a:solidFill>
            <a:prstDash val="solid"/>
          </a:ln>
          <a:effectLst>
            <a:outerShdw sx="100000" sy="100000" kx="0" ky="0" algn="bl" rotWithShape="0" blurRad="1.8157639362655985e+87" dist="6.052546454218663e+86" dir="9.871627788170037e+101">
              <a:srgbClr val="020515">
                <a:alpha val="3.4999999999999995e+104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10030968" y="2596896"/>
            <a:ext cx="18105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55E4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Streamlit</a:t>
            </a:r>
            <a:endParaRPr lang="en-US" sz="1900" dirty="0"/>
          </a:p>
        </p:txBody>
      </p:sp>
      <p:sp>
        <p:nvSpPr>
          <p:cNvPr id="29" name="Text 27"/>
          <p:cNvSpPr/>
          <p:nvPr/>
        </p:nvSpPr>
        <p:spPr>
          <a:xfrm>
            <a:off x="10058400" y="3227832"/>
            <a:ext cx="17556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6B7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Interactive web app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85800" y="4882896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6B7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Saved models + scaler + product metadata loaded by the website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90E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-1097280"/>
            <a:ext cx="3657600" cy="3657600"/>
          </a:xfrm>
          <a:prstGeom prst="ellipse">
            <a:avLst/>
          </a:prstGeom>
          <a:solidFill>
            <a:srgbClr val="9985FF">
              <a:alpha val="6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4937760"/>
            <a:ext cx="3200400" cy="3200400"/>
          </a:xfrm>
          <a:prstGeom prst="ellipse">
            <a:avLst/>
          </a:prstGeom>
          <a:solidFill>
            <a:srgbClr val="49D5FF">
              <a:alpha val="4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657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49D5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/ CLEANING &amp; SESSIONS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94360" y="768096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4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preparation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594360" y="1481328"/>
            <a:ext cx="11000232" cy="0"/>
          </a:xfrm>
          <a:prstGeom prst="line">
            <a:avLst/>
          </a:prstGeom>
          <a:noFill/>
          <a:ln w="11430">
            <a:solidFill>
              <a:srgbClr val="334474"/>
            </a:solidFill>
            <a:prstDash val="solid"/>
            <a:headEnd type="none"/>
            <a:tailEnd type="none"/>
          </a:ln>
        </p:spPr>
      </p:sp>
      <p:sp>
        <p:nvSpPr>
          <p:cNvPr id="7" name="Text 5"/>
          <p:cNvSpPr/>
          <p:nvPr/>
        </p:nvSpPr>
        <p:spPr>
          <a:xfrm>
            <a:off x="594360" y="652881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6B7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CP2  /  E-COMMERCE AI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698480" y="6528816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B7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 / 16</a:t>
            </a:r>
            <a:endParaRPr lang="en-US" sz="900" dirty="0"/>
          </a:p>
        </p:txBody>
      </p:sp>
      <p:sp>
        <p:nvSpPr>
          <p:cNvPr id="9" name="Shape 7">
            <a:hlinkClick r:id="rId1" tooltip="" action="ppaction://hlinksldjump"/>
          </p:cNvPr>
          <p:cNvSpPr/>
          <p:nvPr/>
        </p:nvSpPr>
        <p:spPr>
          <a:xfrm rot="10800000">
            <a:off x="10469880" y="6419088"/>
            <a:ext cx="210312" cy="219456"/>
          </a:xfrm>
          <a:prstGeom prst="chevron">
            <a:avLst/>
          </a:prstGeom>
          <a:solidFill>
            <a:srgbClr val="A6B7D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0" name="Shape 8">
            <a:hlinkClick r:id="rId2" tooltip="" action="ppaction://hlinksldjump"/>
          </p:cNvPr>
          <p:cNvSpPr/>
          <p:nvPr/>
        </p:nvSpPr>
        <p:spPr>
          <a:xfrm>
            <a:off x="11631168" y="6419088"/>
            <a:ext cx="210312" cy="219456"/>
          </a:xfrm>
          <a:prstGeom prst="chevron">
            <a:avLst/>
          </a:prstGeom>
          <a:solidFill>
            <a:srgbClr val="49D5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1920240"/>
            <a:ext cx="3563112" cy="1417320"/>
          </a:xfrm>
          <a:prstGeom prst="roundRect">
            <a:avLst>
              <a:gd name="adj" fmla="val 14194"/>
            </a:avLst>
          </a:prstGeom>
          <a:solidFill>
            <a:srgbClr val="151E3A"/>
          </a:solidFill>
          <a:ln w="10160">
            <a:solidFill>
              <a:srgbClr val="334474"/>
            </a:solidFill>
            <a:prstDash val="solid"/>
          </a:ln>
          <a:effectLst>
            <a:outerShdw sx="100000" sy="100000" kx="0" ky="0" algn="bl" rotWithShape="0" blurRad="2.30602019905731e+91" dist="7.6867339968577025e+90" dir="5.9229766729020215e+106">
              <a:srgbClr val="020515">
                <a:alpha val="3.4999999999999994e+109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" y="2139696"/>
            <a:ext cx="54864" cy="329184"/>
          </a:xfrm>
          <a:prstGeom prst="rect">
            <a:avLst/>
          </a:prstGeom>
          <a:solidFill>
            <a:srgbClr val="49D5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41832" y="2093976"/>
            <a:ext cx="3014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Clean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13816" y="2578608"/>
            <a:ext cx="3124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6B7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Removed 460 exact duplicate events.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322064" y="1920240"/>
            <a:ext cx="3563112" cy="1417320"/>
          </a:xfrm>
          <a:prstGeom prst="roundRect">
            <a:avLst>
              <a:gd name="adj" fmla="val 14194"/>
            </a:avLst>
          </a:prstGeom>
          <a:solidFill>
            <a:srgbClr val="151E3A"/>
          </a:solidFill>
          <a:ln w="10160">
            <a:solidFill>
              <a:srgbClr val="334474"/>
            </a:solidFill>
            <a:prstDash val="solid"/>
          </a:ln>
          <a:effectLst>
            <a:outerShdw sx="100000" sy="100000" kx="0" ky="0" algn="bl" rotWithShape="0" blurRad="2.9286456528027836e+95" dist="9.762152176009283e+94" dir="3.553786003741213e+111">
              <a:srgbClr val="020515">
                <a:alpha val="3.4999999999999995e+114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04944" y="2139696"/>
            <a:ext cx="54864" cy="329184"/>
          </a:xfrm>
          <a:prstGeom prst="rect">
            <a:avLst/>
          </a:prstGeom>
          <a:solidFill>
            <a:srgbClr val="9985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9536" y="2093976"/>
            <a:ext cx="3014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 features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541520" y="2578608"/>
            <a:ext cx="3124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6B7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Converted millisecond timestamps to datetime.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049768" y="1920240"/>
            <a:ext cx="3563112" cy="1417320"/>
          </a:xfrm>
          <a:prstGeom prst="roundRect">
            <a:avLst>
              <a:gd name="adj" fmla="val 14194"/>
            </a:avLst>
          </a:prstGeom>
          <a:solidFill>
            <a:srgbClr val="151E3A"/>
          </a:solidFill>
          <a:ln w="10160">
            <a:solidFill>
              <a:srgbClr val="334474"/>
            </a:solidFill>
            <a:prstDash val="solid"/>
          </a:ln>
          <a:effectLst>
            <a:outerShdw sx="100000" sy="100000" kx="0" ky="0" algn="bl" rotWithShape="0" blurRad="3.7193799790595354e+99" dist="1.2397933263531789e+99" dir="2.1322716022447277e+116">
              <a:srgbClr val="020515">
                <a:alpha val="3.499999999999999e+119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232648" y="2139696"/>
            <a:ext cx="54864" cy="329184"/>
          </a:xfrm>
          <a:prstGeom prst="rect">
            <a:avLst/>
          </a:prstGeom>
          <a:solidFill>
            <a:srgbClr val="55E4C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97240" y="2093976"/>
            <a:ext cx="3014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Sessionize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8269224" y="2578608"/>
            <a:ext cx="3124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6B7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session after &gt;30 minutes of inactivity.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94360" y="4114800"/>
            <a:ext cx="3383280" cy="1298448"/>
          </a:xfrm>
          <a:prstGeom prst="roundRect">
            <a:avLst>
              <a:gd name="adj" fmla="val 15493"/>
            </a:avLst>
          </a:prstGeom>
          <a:solidFill>
            <a:srgbClr val="151E3A"/>
          </a:solidFill>
          <a:ln w="10160">
            <a:solidFill>
              <a:srgbClr val="334474"/>
            </a:solidFill>
            <a:prstDash val="solid"/>
          </a:ln>
          <a:effectLst>
            <a:outerShdw sx="100000" sy="100000" kx="0" ky="0" algn="bl" rotWithShape="0" blurRad="4.72361257340561e+103" dist="1.574537524468537e+103" dir="1.2793629613468366e+121">
              <a:srgbClr val="020515">
                <a:alpha val="3.499999999999999e+124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58952" y="4270248"/>
            <a:ext cx="3054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6B7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SESSIONS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58952" y="4553712"/>
            <a:ext cx="30540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9D5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1.762M</a:t>
            </a:r>
            <a:endParaRPr lang="en-US" sz="3000" dirty="0"/>
          </a:p>
        </p:txBody>
      </p:sp>
      <p:sp>
        <p:nvSpPr>
          <p:cNvPr id="26" name="Shape 24"/>
          <p:cNvSpPr/>
          <p:nvPr/>
        </p:nvSpPr>
        <p:spPr>
          <a:xfrm>
            <a:off x="4398264" y="4114800"/>
            <a:ext cx="3383280" cy="1298448"/>
          </a:xfrm>
          <a:prstGeom prst="roundRect">
            <a:avLst>
              <a:gd name="adj" fmla="val 15493"/>
            </a:avLst>
          </a:prstGeom>
          <a:solidFill>
            <a:srgbClr val="151E3A"/>
          </a:solidFill>
          <a:ln w="10160">
            <a:solidFill>
              <a:srgbClr val="334474"/>
            </a:solidFill>
            <a:prstDash val="solid"/>
          </a:ln>
          <a:effectLst>
            <a:outerShdw sx="100000" sy="100000" kx="0" ky="0" algn="bl" rotWithShape="0" blurRad="5.998987968225125e+107" dist="1.9996626560750422e+107" dir="7.67617776808102e+125">
              <a:srgbClr val="020515">
                <a:alpha val="3.499999999999999e+129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562856" y="4270248"/>
            <a:ext cx="3054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6B7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GAP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62856" y="4553712"/>
            <a:ext cx="30540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985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 min</a:t>
            </a:r>
            <a:endParaRPr lang="en-US" sz="3000" dirty="0"/>
          </a:p>
        </p:txBody>
      </p:sp>
      <p:sp>
        <p:nvSpPr>
          <p:cNvPr id="29" name="Shape 27"/>
          <p:cNvSpPr/>
          <p:nvPr/>
        </p:nvSpPr>
        <p:spPr>
          <a:xfrm>
            <a:off x="8202168" y="4114800"/>
            <a:ext cx="3383280" cy="1298448"/>
          </a:xfrm>
          <a:prstGeom prst="roundRect">
            <a:avLst>
              <a:gd name="adj" fmla="val 15493"/>
            </a:avLst>
          </a:prstGeom>
          <a:solidFill>
            <a:srgbClr val="151E3A"/>
          </a:solidFill>
          <a:ln w="10160">
            <a:solidFill>
              <a:srgbClr val="334474"/>
            </a:solidFill>
            <a:prstDash val="solid"/>
          </a:ln>
          <a:effectLst>
            <a:outerShdw sx="100000" sy="100000" kx="0" ky="0" algn="bl" rotWithShape="0" blurRad="7.618714719645908e+111" dist="2.5395715732153033e+111" dir="4.605706660848612e+130">
              <a:srgbClr val="020515">
                <a:alpha val="3.4999999999999992e+134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8366760" y="4270248"/>
            <a:ext cx="3054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6B7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ELIGIBLE ANN SESSIONS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366760" y="4553712"/>
            <a:ext cx="30540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5E4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1.741M</a:t>
            </a:r>
            <a:endParaRPr lang="en-US" sz="3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90E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-1097280"/>
            <a:ext cx="3657600" cy="3657600"/>
          </a:xfrm>
          <a:prstGeom prst="ellipse">
            <a:avLst/>
          </a:prstGeom>
          <a:solidFill>
            <a:srgbClr val="9985FF">
              <a:alpha val="6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4937760"/>
            <a:ext cx="3200400" cy="3200400"/>
          </a:xfrm>
          <a:prstGeom prst="ellipse">
            <a:avLst/>
          </a:prstGeom>
          <a:solidFill>
            <a:srgbClr val="49D5FF">
              <a:alpha val="4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657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49D5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 / SUPERVISED LEARNING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94360" y="768096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4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Purchase intent target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594360" y="1481328"/>
            <a:ext cx="11000232" cy="0"/>
          </a:xfrm>
          <a:prstGeom prst="line">
            <a:avLst/>
          </a:prstGeom>
          <a:noFill/>
          <a:ln w="11430">
            <a:solidFill>
              <a:srgbClr val="334474"/>
            </a:solidFill>
            <a:prstDash val="solid"/>
            <a:headEnd type="none"/>
            <a:tailEnd type="none"/>
          </a:ln>
        </p:spPr>
      </p:sp>
      <p:sp>
        <p:nvSpPr>
          <p:cNvPr id="7" name="Text 5"/>
          <p:cNvSpPr/>
          <p:nvPr/>
        </p:nvSpPr>
        <p:spPr>
          <a:xfrm>
            <a:off x="594360" y="652881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6B7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CP2  /  E-COMMERCE AI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698480" y="6528816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B7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 / 16</a:t>
            </a:r>
            <a:endParaRPr lang="en-US" sz="900" dirty="0"/>
          </a:p>
        </p:txBody>
      </p:sp>
      <p:sp>
        <p:nvSpPr>
          <p:cNvPr id="9" name="Shape 7">
            <a:hlinkClick r:id="rId1" tooltip="" action="ppaction://hlinksldjump"/>
          </p:cNvPr>
          <p:cNvSpPr/>
          <p:nvPr/>
        </p:nvSpPr>
        <p:spPr>
          <a:xfrm rot="10800000">
            <a:off x="10469880" y="6419088"/>
            <a:ext cx="210312" cy="219456"/>
          </a:xfrm>
          <a:prstGeom prst="chevron">
            <a:avLst/>
          </a:prstGeom>
          <a:solidFill>
            <a:srgbClr val="A6B7D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0" name="Shape 8">
            <a:hlinkClick r:id="rId2" tooltip="" action="ppaction://hlinksldjump"/>
          </p:cNvPr>
          <p:cNvSpPr/>
          <p:nvPr/>
        </p:nvSpPr>
        <p:spPr>
          <a:xfrm>
            <a:off x="11631168" y="6419088"/>
            <a:ext cx="210312" cy="219456"/>
          </a:xfrm>
          <a:prstGeom prst="chevron">
            <a:avLst/>
          </a:prstGeom>
          <a:solidFill>
            <a:srgbClr val="49D5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1856232"/>
            <a:ext cx="11018520" cy="1325880"/>
          </a:xfrm>
          <a:prstGeom prst="roundRect">
            <a:avLst>
              <a:gd name="adj" fmla="val 15172"/>
            </a:avLst>
          </a:prstGeom>
          <a:solidFill>
            <a:srgbClr val="1C2850"/>
          </a:solidFill>
          <a:ln w="10160">
            <a:solidFill>
              <a:srgbClr val="334474"/>
            </a:solidFill>
            <a:prstDash val="solid"/>
          </a:ln>
          <a:effectLst>
            <a:outerShdw sx="100000" sy="100000" kx="0" ky="0" algn="bl" rotWithShape="0" blurRad="9.675767693950304e+115" dist="3.2252558979834354e+115" dir="2.763423996509167e+135">
              <a:srgbClr val="020515">
                <a:alpha val="3.499999999999999e+139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68680" y="21031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5E4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  =  1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2926080" y="20574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transaction occurs within 24 hours after session end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594360" y="3721608"/>
            <a:ext cx="3383280" cy="1298448"/>
          </a:xfrm>
          <a:prstGeom prst="roundRect">
            <a:avLst>
              <a:gd name="adj" fmla="val 15493"/>
            </a:avLst>
          </a:prstGeom>
          <a:solidFill>
            <a:srgbClr val="151E3A"/>
          </a:solidFill>
          <a:ln w="10160">
            <a:solidFill>
              <a:srgbClr val="334474"/>
            </a:solidFill>
            <a:prstDash val="solid"/>
          </a:ln>
          <a:effectLst>
            <a:outerShdw sx="100000" sy="100000" kx="0" ky="0" algn="bl" rotWithShape="0" blurRad="1.2288224971316886e+120" dist="4.0960749904389626e+119" dir="1.6580543979055002e+140">
              <a:srgbClr val="020515">
                <a:alpha val="3.499999999999999e+144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58952" y="3877056"/>
            <a:ext cx="3054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6B7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PURCHASE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58952" y="4160520"/>
            <a:ext cx="30540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6B7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1,734,669</a:t>
            </a:r>
            <a:endParaRPr lang="en-US" sz="3000" dirty="0"/>
          </a:p>
        </p:txBody>
      </p:sp>
      <p:sp>
        <p:nvSpPr>
          <p:cNvPr id="17" name="Shape 15"/>
          <p:cNvSpPr/>
          <p:nvPr/>
        </p:nvSpPr>
        <p:spPr>
          <a:xfrm>
            <a:off x="4398264" y="3721608"/>
            <a:ext cx="3383280" cy="1298448"/>
          </a:xfrm>
          <a:prstGeom prst="roundRect">
            <a:avLst>
              <a:gd name="adj" fmla="val 15493"/>
            </a:avLst>
          </a:prstGeom>
          <a:solidFill>
            <a:srgbClr val="151E3A"/>
          </a:solidFill>
          <a:ln w="10160">
            <a:solidFill>
              <a:srgbClr val="334474"/>
            </a:solidFill>
            <a:prstDash val="solid"/>
          </a:ln>
          <a:effectLst>
            <a:outerShdw sx="100000" sy="100000" kx="0" ky="0" algn="bl" rotWithShape="0" blurRad="1.5606045713572446e+124" dist="5.2020152378574823e+123" dir="9.948326387433002e+144">
              <a:srgbClr val="020515">
                <a:alpha val="3.499999999999999e+149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562856" y="3877056"/>
            <a:ext cx="3054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6B7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PURCHASE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62856" y="4160520"/>
            <a:ext cx="30540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5E4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6,015</a:t>
            </a:r>
            <a:endParaRPr lang="en-US" sz="3000" dirty="0"/>
          </a:p>
        </p:txBody>
      </p:sp>
      <p:sp>
        <p:nvSpPr>
          <p:cNvPr id="20" name="Shape 18"/>
          <p:cNvSpPr/>
          <p:nvPr/>
        </p:nvSpPr>
        <p:spPr>
          <a:xfrm>
            <a:off x="8202168" y="3721608"/>
            <a:ext cx="3383280" cy="1298448"/>
          </a:xfrm>
          <a:prstGeom prst="roundRect">
            <a:avLst>
              <a:gd name="adj" fmla="val 15493"/>
            </a:avLst>
          </a:prstGeom>
          <a:solidFill>
            <a:srgbClr val="151E3A"/>
          </a:solidFill>
          <a:ln w="10160">
            <a:solidFill>
              <a:srgbClr val="334474"/>
            </a:solidFill>
            <a:prstDash val="solid"/>
          </a:ln>
          <a:effectLst>
            <a:outerShdw sx="100000" sy="100000" kx="0" ky="0" algn="bl" rotWithShape="0" blurRad="1.9819678056237005e+128" dist="6.606559352079002e+127" dir="5.968995832459801e+149">
              <a:srgbClr val="020515">
                <a:alpha val="3.499999999999999e+154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366760" y="3877056"/>
            <a:ext cx="3054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6B7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POSITIVE CLASS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366760" y="4160520"/>
            <a:ext cx="30540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BB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0.35%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658368" y="5614416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6B7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Excluded sessions with a current purchase and incomplete 24-hour observation windows.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90E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-1097280"/>
            <a:ext cx="3657600" cy="3657600"/>
          </a:xfrm>
          <a:prstGeom prst="ellipse">
            <a:avLst/>
          </a:prstGeom>
          <a:solidFill>
            <a:srgbClr val="9985FF">
              <a:alpha val="6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4937760"/>
            <a:ext cx="3200400" cy="3200400"/>
          </a:xfrm>
          <a:prstGeom prst="ellipse">
            <a:avLst/>
          </a:prstGeom>
          <a:solidFill>
            <a:srgbClr val="49D5FF">
              <a:alpha val="4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657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49D5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 / ANN INPUTS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94360" y="768096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4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 engineering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594360" y="1481328"/>
            <a:ext cx="11000232" cy="0"/>
          </a:xfrm>
          <a:prstGeom prst="line">
            <a:avLst/>
          </a:prstGeom>
          <a:noFill/>
          <a:ln w="11430">
            <a:solidFill>
              <a:srgbClr val="334474"/>
            </a:solidFill>
            <a:prstDash val="solid"/>
            <a:headEnd type="none"/>
            <a:tailEnd type="none"/>
          </a:ln>
        </p:spPr>
      </p:sp>
      <p:sp>
        <p:nvSpPr>
          <p:cNvPr id="7" name="Text 5"/>
          <p:cNvSpPr/>
          <p:nvPr/>
        </p:nvSpPr>
        <p:spPr>
          <a:xfrm>
            <a:off x="594360" y="652881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6B7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CP2  /  E-COMMERCE AI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698480" y="6528816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B7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 / 16</a:t>
            </a:r>
            <a:endParaRPr lang="en-US" sz="900" dirty="0"/>
          </a:p>
        </p:txBody>
      </p:sp>
      <p:sp>
        <p:nvSpPr>
          <p:cNvPr id="9" name="Shape 7">
            <a:hlinkClick r:id="rId1" tooltip="" action="ppaction://hlinksldjump"/>
          </p:cNvPr>
          <p:cNvSpPr/>
          <p:nvPr/>
        </p:nvSpPr>
        <p:spPr>
          <a:xfrm rot="10800000">
            <a:off x="10469880" y="6419088"/>
            <a:ext cx="210312" cy="219456"/>
          </a:xfrm>
          <a:prstGeom prst="chevron">
            <a:avLst/>
          </a:prstGeom>
          <a:solidFill>
            <a:srgbClr val="A6B7D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0" name="Shape 8">
            <a:hlinkClick r:id="rId2" tooltip="" action="ppaction://hlinksldjump"/>
          </p:cNvPr>
          <p:cNvSpPr/>
          <p:nvPr/>
        </p:nvSpPr>
        <p:spPr>
          <a:xfrm>
            <a:off x="11631168" y="6419088"/>
            <a:ext cx="210312" cy="219456"/>
          </a:xfrm>
          <a:prstGeom prst="chevron">
            <a:avLst/>
          </a:prstGeom>
          <a:solidFill>
            <a:srgbClr val="49D5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1828800"/>
            <a:ext cx="10927080" cy="1133856"/>
          </a:xfrm>
          <a:prstGeom prst="roundRect">
            <a:avLst>
              <a:gd name="adj" fmla="val 17742"/>
            </a:avLst>
          </a:prstGeom>
          <a:solidFill>
            <a:srgbClr val="151E3A"/>
          </a:solidFill>
          <a:ln w="10160">
            <a:solidFill>
              <a:srgbClr val="334474"/>
            </a:solidFill>
            <a:prstDash val="solid"/>
          </a:ln>
          <a:effectLst>
            <a:outerShdw sx="100000" sy="100000" kx="0" ky="0" algn="bl" rotWithShape="0" blurRad="2.5170991131420998e+132" dist="8.390330377140333e+131" dir="3.581397499475881e+154">
              <a:srgbClr val="020515">
                <a:alpha val="3.499999999999999e+159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22960" y="2048256"/>
            <a:ext cx="54864" cy="329184"/>
          </a:xfrm>
          <a:prstGeom prst="rect">
            <a:avLst/>
          </a:prstGeom>
          <a:solidFill>
            <a:srgbClr val="49D5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87552" y="2002536"/>
            <a:ext cx="10378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activity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59536" y="2487168"/>
            <a:ext cx="1048816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6B7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total_events · views · add_to_cart · unique_products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3172968"/>
            <a:ext cx="10927080" cy="1133856"/>
          </a:xfrm>
          <a:prstGeom prst="roundRect">
            <a:avLst>
              <a:gd name="adj" fmla="val 17742"/>
            </a:avLst>
          </a:prstGeom>
          <a:solidFill>
            <a:srgbClr val="151E3A"/>
          </a:solidFill>
          <a:ln w="10160">
            <a:solidFill>
              <a:srgbClr val="334474"/>
            </a:solidFill>
            <a:prstDash val="solid"/>
          </a:ln>
          <a:effectLst>
            <a:outerShdw sx="100000" sy="100000" kx="0" ky="0" algn="bl" rotWithShape="0" blurRad="3.1967158736904667e+136" dist="1.0655719578968222e+136" dir="2.1488384996855287e+159">
              <a:srgbClr val="020515">
                <a:alpha val="3.499999999999999e+164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22960" y="3392424"/>
            <a:ext cx="54864" cy="329184"/>
          </a:xfrm>
          <a:prstGeom prst="rect">
            <a:avLst/>
          </a:prstGeom>
          <a:solidFill>
            <a:srgbClr val="9985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87552" y="3346704"/>
            <a:ext cx="10378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 context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59536" y="3831336"/>
            <a:ext cx="1048816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6B7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session_duration_minutes · session_hour · day_of_week · is_weekend · month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4517136"/>
            <a:ext cx="10927080" cy="1133856"/>
          </a:xfrm>
          <a:prstGeom prst="roundRect">
            <a:avLst>
              <a:gd name="adj" fmla="val 17742"/>
            </a:avLst>
          </a:prstGeom>
          <a:solidFill>
            <a:srgbClr val="151E3A"/>
          </a:solidFill>
          <a:ln w="10160">
            <a:solidFill>
              <a:srgbClr val="334474"/>
            </a:solidFill>
            <a:prstDash val="solid"/>
          </a:ln>
          <a:effectLst>
            <a:outerShdw sx="100000" sy="100000" kx="0" ky="0" algn="bl" rotWithShape="0" blurRad="4.0598291595868925e+140" dist="1.3532763865289643e+140" dir="1.2893030998113172e+164">
              <a:srgbClr val="020515">
                <a:alpha val="3.4999999999999995e+169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22960" y="4736592"/>
            <a:ext cx="54864" cy="329184"/>
          </a:xfrm>
          <a:prstGeom prst="rect">
            <a:avLst/>
          </a:prstGeom>
          <a:solidFill>
            <a:srgbClr val="55E4C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87552" y="4690872"/>
            <a:ext cx="10378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history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859536" y="5175504"/>
            <a:ext cx="1048816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6B7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previous_session_count · previous_purchase_count · hours_since_previous_session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94944" y="6044184"/>
            <a:ext cx="1920240" cy="320040"/>
          </a:xfrm>
          <a:prstGeom prst="roundRect">
            <a:avLst>
              <a:gd name="adj" fmla="val 42857"/>
            </a:avLst>
          </a:prstGeom>
          <a:solidFill>
            <a:srgbClr val="49D5FF">
              <a:alpha val="18000"/>
            </a:srgbClr>
          </a:solidFill>
          <a:ln w="12700">
            <a:solidFill>
              <a:srgbClr val="49D5FF">
                <a:alpha val="7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86384" y="6094476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9D5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 INPUT FEATURES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90E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-1097280"/>
            <a:ext cx="3657600" cy="3657600"/>
          </a:xfrm>
          <a:prstGeom prst="ellipse">
            <a:avLst/>
          </a:prstGeom>
          <a:solidFill>
            <a:srgbClr val="9985FF">
              <a:alpha val="6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4937760"/>
            <a:ext cx="3200400" cy="3200400"/>
          </a:xfrm>
          <a:prstGeom prst="ellipse">
            <a:avLst/>
          </a:prstGeom>
          <a:solidFill>
            <a:srgbClr val="49D5FF">
              <a:alpha val="4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657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49D5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 / EXPERIMENTS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94360" y="768096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4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development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594360" y="1481328"/>
            <a:ext cx="11000232" cy="0"/>
          </a:xfrm>
          <a:prstGeom prst="line">
            <a:avLst/>
          </a:prstGeom>
          <a:noFill/>
          <a:ln w="11430">
            <a:solidFill>
              <a:srgbClr val="334474"/>
            </a:solidFill>
            <a:prstDash val="solid"/>
            <a:headEnd type="none"/>
            <a:tailEnd type="none"/>
          </a:ln>
        </p:spPr>
      </p:sp>
      <p:sp>
        <p:nvSpPr>
          <p:cNvPr id="7" name="Text 5"/>
          <p:cNvSpPr/>
          <p:nvPr/>
        </p:nvSpPr>
        <p:spPr>
          <a:xfrm>
            <a:off x="594360" y="652881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6B7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CP2  /  E-COMMERCE AI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698480" y="6528816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B7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 / 16</a:t>
            </a:r>
            <a:endParaRPr lang="en-US" sz="900" dirty="0"/>
          </a:p>
        </p:txBody>
      </p:sp>
      <p:sp>
        <p:nvSpPr>
          <p:cNvPr id="9" name="Shape 7">
            <a:hlinkClick r:id="rId1" tooltip="" action="ppaction://hlinksldjump"/>
          </p:cNvPr>
          <p:cNvSpPr/>
          <p:nvPr/>
        </p:nvSpPr>
        <p:spPr>
          <a:xfrm rot="10800000">
            <a:off x="10469880" y="6419088"/>
            <a:ext cx="210312" cy="219456"/>
          </a:xfrm>
          <a:prstGeom prst="chevron">
            <a:avLst/>
          </a:prstGeom>
          <a:solidFill>
            <a:srgbClr val="A6B7D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0" name="Shape 8">
            <a:hlinkClick r:id="rId2" tooltip="" action="ppaction://hlinksldjump"/>
          </p:cNvPr>
          <p:cNvSpPr/>
          <p:nvPr/>
        </p:nvSpPr>
        <p:spPr>
          <a:xfrm>
            <a:off x="11631168" y="6419088"/>
            <a:ext cx="210312" cy="219456"/>
          </a:xfrm>
          <a:prstGeom prst="chevron">
            <a:avLst/>
          </a:prstGeom>
          <a:solidFill>
            <a:srgbClr val="49D5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2011680"/>
            <a:ext cx="3563112" cy="1417320"/>
          </a:xfrm>
          <a:prstGeom prst="roundRect">
            <a:avLst>
              <a:gd name="adj" fmla="val 14194"/>
            </a:avLst>
          </a:prstGeom>
          <a:solidFill>
            <a:srgbClr val="151E3A"/>
          </a:solidFill>
          <a:ln w="10160">
            <a:solidFill>
              <a:srgbClr val="334474"/>
            </a:solidFill>
            <a:prstDash val="solid"/>
          </a:ln>
          <a:effectLst>
            <a:outerShdw sx="100000" sy="100000" kx="0" ky="0" algn="bl" rotWithShape="0" blurRad="5.155983032675354e+144" dist="1.7186610108917847e+144" dir="7.735818598867904e+168">
              <a:srgbClr val="020515">
                <a:alpha val="3.4999999999999997e+174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" y="2231136"/>
            <a:ext cx="54864" cy="329184"/>
          </a:xfrm>
          <a:prstGeom prst="rect">
            <a:avLst/>
          </a:prstGeom>
          <a:solidFill>
            <a:srgbClr val="49D5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41832" y="2185416"/>
            <a:ext cx="3014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Logistic regression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13816" y="2670048"/>
            <a:ext cx="3124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6B7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 PR-AUC  0.1602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322064" y="2011680"/>
            <a:ext cx="3563112" cy="1417320"/>
          </a:xfrm>
          <a:prstGeom prst="roundRect">
            <a:avLst>
              <a:gd name="adj" fmla="val 14194"/>
            </a:avLst>
          </a:prstGeom>
          <a:solidFill>
            <a:srgbClr val="151E3A"/>
          </a:solidFill>
          <a:ln w="10160">
            <a:solidFill>
              <a:srgbClr val="334474"/>
            </a:solidFill>
            <a:prstDash val="solid"/>
          </a:ln>
          <a:effectLst>
            <a:outerShdw sx="100000" sy="100000" kx="0" ky="0" algn="bl" rotWithShape="0" blurRad="6.548098451497699e+148" dist="2.1826994838325667e+148" dir="4.6414911593207425e+173">
              <a:srgbClr val="020515">
                <a:alpha val="3.4999999999999996e+179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04944" y="2231136"/>
            <a:ext cx="54864" cy="329184"/>
          </a:xfrm>
          <a:prstGeom prst="rect">
            <a:avLst/>
          </a:prstGeom>
          <a:solidFill>
            <a:srgbClr val="9985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9536" y="2185416"/>
            <a:ext cx="3014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Random forest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541520" y="2670048"/>
            <a:ext cx="3124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6B7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 PR-AUC  0.1953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049768" y="2011680"/>
            <a:ext cx="3563112" cy="1417320"/>
          </a:xfrm>
          <a:prstGeom prst="roundRect">
            <a:avLst>
              <a:gd name="adj" fmla="val 14194"/>
            </a:avLst>
          </a:prstGeom>
          <a:solidFill>
            <a:srgbClr val="151E3A"/>
          </a:solidFill>
          <a:ln w="10160">
            <a:solidFill>
              <a:srgbClr val="334474"/>
            </a:solidFill>
            <a:prstDash val="solid"/>
          </a:ln>
          <a:effectLst>
            <a:outerShdw sx="100000" sy="100000" kx="0" ky="0" algn="bl" rotWithShape="0" blurRad="8.316085033402078e+152" dist="2.77202834446736e+152" dir="2.7848946955924455e+178">
              <a:srgbClr val="020515">
                <a:alpha val="3.5e+184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232648" y="2231136"/>
            <a:ext cx="54864" cy="329184"/>
          </a:xfrm>
          <a:prstGeom prst="rect">
            <a:avLst/>
          </a:prstGeom>
          <a:solidFill>
            <a:srgbClr val="55E4C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97240" y="2185416"/>
            <a:ext cx="3014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network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8269224" y="2670048"/>
            <a:ext cx="3124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6B7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Tuned validation PR-AUC  0.2058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94360" y="4160520"/>
            <a:ext cx="11018520" cy="1280160"/>
          </a:xfrm>
          <a:prstGeom prst="roundRect">
            <a:avLst>
              <a:gd name="adj" fmla="val 15714"/>
            </a:avLst>
          </a:prstGeom>
          <a:solidFill>
            <a:srgbClr val="1C2850"/>
          </a:solidFill>
          <a:ln w="10160">
            <a:solidFill>
              <a:srgbClr val="334474"/>
            </a:solidFill>
            <a:prstDash val="solid"/>
          </a:ln>
          <a:effectLst>
            <a:outerShdw sx="100000" sy="100000" kx="0" ky="0" algn="bl" rotWithShape="0" blurRad="1.056142799242064e+157" dist="3.520475997473547e+156" dir="1.6709368173554673e+183">
              <a:srgbClr val="020515">
                <a:alpha val="3.5e+189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877824" y="439826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9D5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CHOSEN MODEL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77824" y="4718304"/>
            <a:ext cx="10287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4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Tuned ANN 1  •  128 → 64 neurons  •  Adam learning rate 0.001</a:t>
            </a:r>
            <a:endParaRPr lang="en-US" sz="1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90E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-1097280"/>
            <a:ext cx="3657600" cy="3657600"/>
          </a:xfrm>
          <a:prstGeom prst="ellipse">
            <a:avLst/>
          </a:prstGeom>
          <a:solidFill>
            <a:srgbClr val="9985FF">
              <a:alpha val="6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4937760"/>
            <a:ext cx="3200400" cy="3200400"/>
          </a:xfrm>
          <a:prstGeom prst="ellipse">
            <a:avLst/>
          </a:prstGeom>
          <a:solidFill>
            <a:srgbClr val="49D5FF">
              <a:alpha val="4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657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49D5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 / NEURAL NETWORK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94360" y="768096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4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 design &amp; optimization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594360" y="1481328"/>
            <a:ext cx="11000232" cy="0"/>
          </a:xfrm>
          <a:prstGeom prst="line">
            <a:avLst/>
          </a:prstGeom>
          <a:noFill/>
          <a:ln w="11430">
            <a:solidFill>
              <a:srgbClr val="334474"/>
            </a:solidFill>
            <a:prstDash val="solid"/>
            <a:headEnd type="none"/>
            <a:tailEnd type="none"/>
          </a:ln>
        </p:spPr>
      </p:sp>
      <p:sp>
        <p:nvSpPr>
          <p:cNvPr id="7" name="Text 5"/>
          <p:cNvSpPr/>
          <p:nvPr/>
        </p:nvSpPr>
        <p:spPr>
          <a:xfrm>
            <a:off x="594360" y="652881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6B7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CP2  /  E-COMMERCE AI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698480" y="6528816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B7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/ 16</a:t>
            </a:r>
            <a:endParaRPr lang="en-US" sz="900" dirty="0"/>
          </a:p>
        </p:txBody>
      </p:sp>
      <p:sp>
        <p:nvSpPr>
          <p:cNvPr id="9" name="Shape 7">
            <a:hlinkClick r:id="rId1" tooltip="" action="ppaction://hlinksldjump"/>
          </p:cNvPr>
          <p:cNvSpPr/>
          <p:nvPr/>
        </p:nvSpPr>
        <p:spPr>
          <a:xfrm rot="10800000">
            <a:off x="10469880" y="6419088"/>
            <a:ext cx="210312" cy="219456"/>
          </a:xfrm>
          <a:prstGeom prst="chevron">
            <a:avLst/>
          </a:prstGeom>
          <a:solidFill>
            <a:srgbClr val="A6B7D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0" name="Shape 8">
            <a:hlinkClick r:id="rId2" tooltip="" action="ppaction://hlinksldjump"/>
          </p:cNvPr>
          <p:cNvSpPr/>
          <p:nvPr/>
        </p:nvSpPr>
        <p:spPr>
          <a:xfrm>
            <a:off x="11631168" y="6419088"/>
            <a:ext cx="210312" cy="219456"/>
          </a:xfrm>
          <a:prstGeom prst="chevron">
            <a:avLst/>
          </a:prstGeom>
          <a:solidFill>
            <a:srgbClr val="49D5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76072" y="2148840"/>
            <a:ext cx="1709928" cy="1508760"/>
          </a:xfrm>
          <a:prstGeom prst="roundRect">
            <a:avLst>
              <a:gd name="adj" fmla="val 13333"/>
            </a:avLst>
          </a:prstGeom>
          <a:solidFill>
            <a:srgbClr val="151E3A"/>
          </a:solidFill>
          <a:ln w="10160">
            <a:solidFill>
              <a:srgbClr val="334474"/>
            </a:solidFill>
            <a:prstDash val="solid"/>
          </a:ln>
          <a:effectLst>
            <a:outerShdw sx="100000" sy="100000" kx="0" ky="0" algn="bl" rotWithShape="0" blurRad="1.3413013550374212e+161" dist="4.471004516791404e+160" dir="1.0025620904132804e+188">
              <a:srgbClr val="020515">
                <a:alpha val="3.5e+194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67512" y="2423160"/>
            <a:ext cx="1527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9D5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2898648"/>
            <a:ext cx="1581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4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 features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295144" y="2615184"/>
            <a:ext cx="219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985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2496312" y="2148840"/>
            <a:ext cx="1709928" cy="1508760"/>
          </a:xfrm>
          <a:prstGeom prst="roundRect">
            <a:avLst>
              <a:gd name="adj" fmla="val 13333"/>
            </a:avLst>
          </a:prstGeom>
          <a:solidFill>
            <a:srgbClr val="151E3A"/>
          </a:solidFill>
          <a:ln w="10160">
            <a:solidFill>
              <a:srgbClr val="334474"/>
            </a:solidFill>
            <a:prstDash val="solid"/>
          </a:ln>
          <a:effectLst>
            <a:outerShdw sx="100000" sy="100000" kx="0" ky="0" algn="bl" rotWithShape="0" blurRad="1.703452720897525e+165" dist="5.678175736325083e+164" dir="6.015372542479682e+192">
              <a:srgbClr val="020515">
                <a:alpha val="3.5e+199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587752" y="2423160"/>
            <a:ext cx="1527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9D5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DENSE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560320" y="2898648"/>
            <a:ext cx="1581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4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128 · ReLU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215384" y="2615184"/>
            <a:ext cx="219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985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4416552" y="2148840"/>
            <a:ext cx="1709928" cy="1508760"/>
          </a:xfrm>
          <a:prstGeom prst="roundRect">
            <a:avLst>
              <a:gd name="adj" fmla="val 13333"/>
            </a:avLst>
          </a:prstGeom>
          <a:solidFill>
            <a:srgbClr val="151E3A"/>
          </a:solidFill>
          <a:ln w="10160">
            <a:solidFill>
              <a:srgbClr val="334474"/>
            </a:solidFill>
            <a:prstDash val="solid"/>
          </a:ln>
          <a:effectLst>
            <a:outerShdw sx="100000" sy="100000" kx="0" ky="0" algn="bl" rotWithShape="0" blurRad="2.1633849555398568e+169" dist="7.211283185132856e+168" dir="3.6092235254878095e+197">
              <a:srgbClr val="020515">
                <a:alpha val="3.5e+204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507992" y="2423160"/>
            <a:ext cx="1527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9D5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DROPOUT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480560" y="2898648"/>
            <a:ext cx="1581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4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0.30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135624" y="2615184"/>
            <a:ext cx="219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985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6336792" y="2148840"/>
            <a:ext cx="1709928" cy="1508760"/>
          </a:xfrm>
          <a:prstGeom prst="roundRect">
            <a:avLst>
              <a:gd name="adj" fmla="val 13333"/>
            </a:avLst>
          </a:prstGeom>
          <a:solidFill>
            <a:srgbClr val="151E3A"/>
          </a:solidFill>
          <a:ln w="10160">
            <a:solidFill>
              <a:srgbClr val="334474"/>
            </a:solidFill>
            <a:prstDash val="solid"/>
          </a:ln>
          <a:effectLst>
            <a:outerShdw sx="100000" sy="100000" kx="0" ky="0" algn="bl" rotWithShape="0" blurRad="2.7474988935356184e+173" dist="9.158329645118728e+172" dir="2.1655341152926858e+202">
              <a:srgbClr val="020515">
                <a:alpha val="3.5e+209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428232" y="2423160"/>
            <a:ext cx="1527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9D5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DENSE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400800" y="2898648"/>
            <a:ext cx="1581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4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64 · ReLU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055864" y="2615184"/>
            <a:ext cx="219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985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8257032" y="2148840"/>
            <a:ext cx="1709928" cy="1508760"/>
          </a:xfrm>
          <a:prstGeom prst="roundRect">
            <a:avLst>
              <a:gd name="adj" fmla="val 13333"/>
            </a:avLst>
          </a:prstGeom>
          <a:solidFill>
            <a:srgbClr val="151E3A"/>
          </a:solidFill>
          <a:ln w="10160">
            <a:solidFill>
              <a:srgbClr val="334474"/>
            </a:solidFill>
            <a:prstDash val="solid"/>
          </a:ln>
          <a:effectLst>
            <a:outerShdw sx="100000" sy="100000" kx="0" ky="0" algn="bl" rotWithShape="0" blurRad="3.4893235947902355e+177" dist="1.1631078649300784e+177" dir="1.2993204691756116e+207">
              <a:srgbClr val="020515">
                <a:alpha val="3.5000000000000004e+214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8348472" y="2423160"/>
            <a:ext cx="1527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9D5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DROPOUT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321040" y="2898648"/>
            <a:ext cx="1581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4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0.20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9976104" y="2615184"/>
            <a:ext cx="219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985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10177272" y="2148840"/>
            <a:ext cx="1709928" cy="1508760"/>
          </a:xfrm>
          <a:prstGeom prst="roundRect">
            <a:avLst>
              <a:gd name="adj" fmla="val 13333"/>
            </a:avLst>
          </a:prstGeom>
          <a:solidFill>
            <a:srgbClr val="1C2850"/>
          </a:solidFill>
          <a:ln w="10160">
            <a:solidFill>
              <a:srgbClr val="334474"/>
            </a:solidFill>
            <a:prstDash val="solid"/>
          </a:ln>
          <a:effectLst>
            <a:outerShdw sx="100000" sy="100000" kx="0" ky="0" algn="bl" rotWithShape="0" blurRad="4.431440965383599e+181" dist="1.4771469884611996e+181" dir="7.795922815053669e+211">
              <a:srgbClr val="020515">
                <a:alpha val="3.500000000000001e+219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10268712" y="2423160"/>
            <a:ext cx="1527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5E4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0241280" y="2898648"/>
            <a:ext cx="1581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4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· Sigmoid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594360" y="4224528"/>
            <a:ext cx="3563112" cy="1417320"/>
          </a:xfrm>
          <a:prstGeom prst="roundRect">
            <a:avLst>
              <a:gd name="adj" fmla="val 14194"/>
            </a:avLst>
          </a:prstGeom>
          <a:solidFill>
            <a:srgbClr val="151E3A"/>
          </a:solidFill>
          <a:ln w="10160">
            <a:solidFill>
              <a:srgbClr val="334474"/>
            </a:solidFill>
            <a:prstDash val="solid"/>
          </a:ln>
          <a:effectLst>
            <a:outerShdw sx="100000" sy="100000" kx="0" ky="0" algn="bl" rotWithShape="0" blurRad="5.62793002603717e+185" dist="1.8759766753457235e+185" dir="4.677553689032201e+216">
              <a:srgbClr val="020515">
                <a:alpha val="3.500000000000001e+224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777240" y="4443984"/>
            <a:ext cx="54864" cy="329184"/>
          </a:xfrm>
          <a:prstGeom prst="rect">
            <a:avLst/>
          </a:prstGeom>
          <a:solidFill>
            <a:srgbClr val="49D5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41832" y="4398264"/>
            <a:ext cx="3014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 weights</a:t>
            </a:r>
            <a:endParaRPr lang="en-US" sz="1700" dirty="0"/>
          </a:p>
        </p:txBody>
      </p:sp>
      <p:sp>
        <p:nvSpPr>
          <p:cNvPr id="37" name="Text 35"/>
          <p:cNvSpPr/>
          <p:nvPr/>
        </p:nvSpPr>
        <p:spPr>
          <a:xfrm>
            <a:off x="813816" y="4882896"/>
            <a:ext cx="3124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6B7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Addressed the 0.35% positive rate.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322064" y="4224528"/>
            <a:ext cx="3563112" cy="1417320"/>
          </a:xfrm>
          <a:prstGeom prst="roundRect">
            <a:avLst>
              <a:gd name="adj" fmla="val 14194"/>
            </a:avLst>
          </a:prstGeom>
          <a:solidFill>
            <a:srgbClr val="151E3A"/>
          </a:solidFill>
          <a:ln w="10160">
            <a:solidFill>
              <a:srgbClr val="334474"/>
            </a:solidFill>
            <a:prstDash val="solid"/>
          </a:ln>
          <a:effectLst>
            <a:outerShdw sx="100000" sy="100000" kx="0" ky="0" algn="bl" rotWithShape="0" blurRad="7.147471133067207e+189" dist="2.382490377689069e+189" dir="2.806532213419321e+221">
              <a:srgbClr val="020515">
                <a:alpha val="3.500000000000001e+229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504944" y="4443984"/>
            <a:ext cx="54864" cy="329184"/>
          </a:xfrm>
          <a:prstGeom prst="rect">
            <a:avLst/>
          </a:prstGeom>
          <a:solidFill>
            <a:srgbClr val="9985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669536" y="4398264"/>
            <a:ext cx="3014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Early stopping</a:t>
            </a:r>
            <a:endParaRPr lang="en-US" sz="1700" dirty="0"/>
          </a:p>
        </p:txBody>
      </p:sp>
      <p:sp>
        <p:nvSpPr>
          <p:cNvPr id="41" name="Text 39"/>
          <p:cNvSpPr/>
          <p:nvPr/>
        </p:nvSpPr>
        <p:spPr>
          <a:xfrm>
            <a:off x="4541520" y="4882896"/>
            <a:ext cx="3124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6B7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Monitored validation PR-AUC.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8049768" y="4224528"/>
            <a:ext cx="3563112" cy="1417320"/>
          </a:xfrm>
          <a:prstGeom prst="roundRect">
            <a:avLst>
              <a:gd name="adj" fmla="val 14194"/>
            </a:avLst>
          </a:prstGeom>
          <a:solidFill>
            <a:srgbClr val="151E3A"/>
          </a:solidFill>
          <a:ln w="10160">
            <a:solidFill>
              <a:srgbClr val="334474"/>
            </a:solidFill>
            <a:prstDash val="solid"/>
          </a:ln>
          <a:effectLst>
            <a:outerShdw sx="100000" sy="100000" kx="0" ky="0" algn="bl" rotWithShape="0" blurRad="9.077288338995353e+193" dist="3.0257627796651175e+193" dir="1.6839193280515925e+226">
              <a:srgbClr val="020515">
                <a:alpha val="3.500000000000001e+234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8232648" y="4443984"/>
            <a:ext cx="54864" cy="329184"/>
          </a:xfrm>
          <a:prstGeom prst="rect">
            <a:avLst/>
          </a:prstGeom>
          <a:solidFill>
            <a:srgbClr val="55E4C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397240" y="4398264"/>
            <a:ext cx="3014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Threshold</a:t>
            </a:r>
            <a:endParaRPr lang="en-US" sz="1700" dirty="0"/>
          </a:p>
        </p:txBody>
      </p:sp>
      <p:sp>
        <p:nvSpPr>
          <p:cNvPr id="45" name="Text 43"/>
          <p:cNvSpPr/>
          <p:nvPr/>
        </p:nvSpPr>
        <p:spPr>
          <a:xfrm>
            <a:off x="8269224" y="4882896"/>
            <a:ext cx="3124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6B7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Optimized on validation: 0.94.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90E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-1097280"/>
            <a:ext cx="3657600" cy="3657600"/>
          </a:xfrm>
          <a:prstGeom prst="ellipse">
            <a:avLst/>
          </a:prstGeom>
          <a:solidFill>
            <a:srgbClr val="9985FF">
              <a:alpha val="6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4937760"/>
            <a:ext cx="3200400" cy="3200400"/>
          </a:xfrm>
          <a:prstGeom prst="ellipse">
            <a:avLst/>
          </a:prstGeom>
          <a:solidFill>
            <a:srgbClr val="49D5FF">
              <a:alpha val="4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657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49D5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/ PREDICTIVE PERFORMANCE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94360" y="768096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4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 results on unseen test data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594360" y="1481328"/>
            <a:ext cx="11000232" cy="0"/>
          </a:xfrm>
          <a:prstGeom prst="line">
            <a:avLst/>
          </a:prstGeom>
          <a:noFill/>
          <a:ln w="11430">
            <a:solidFill>
              <a:srgbClr val="334474"/>
            </a:solidFill>
            <a:prstDash val="solid"/>
            <a:headEnd type="none"/>
            <a:tailEnd type="none"/>
          </a:ln>
        </p:spPr>
      </p:sp>
      <p:sp>
        <p:nvSpPr>
          <p:cNvPr id="7" name="Text 5"/>
          <p:cNvSpPr/>
          <p:nvPr/>
        </p:nvSpPr>
        <p:spPr>
          <a:xfrm>
            <a:off x="594360" y="652881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6B7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CP2  /  E-COMMERCE AI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698480" y="6528816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B7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 / 16</a:t>
            </a:r>
            <a:endParaRPr lang="en-US" sz="900" dirty="0"/>
          </a:p>
        </p:txBody>
      </p:sp>
      <p:sp>
        <p:nvSpPr>
          <p:cNvPr id="9" name="Shape 7">
            <a:hlinkClick r:id="rId1" tooltip="" action="ppaction://hlinksldjump"/>
          </p:cNvPr>
          <p:cNvSpPr/>
          <p:nvPr/>
        </p:nvSpPr>
        <p:spPr>
          <a:xfrm rot="10800000">
            <a:off x="10469880" y="6419088"/>
            <a:ext cx="210312" cy="219456"/>
          </a:xfrm>
          <a:prstGeom prst="chevron">
            <a:avLst/>
          </a:prstGeom>
          <a:solidFill>
            <a:srgbClr val="A6B7D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0" name="Shape 8">
            <a:hlinkClick r:id="rId2" tooltip="" action="ppaction://hlinksldjump"/>
          </p:cNvPr>
          <p:cNvSpPr/>
          <p:nvPr/>
        </p:nvSpPr>
        <p:spPr>
          <a:xfrm>
            <a:off x="11631168" y="6419088"/>
            <a:ext cx="210312" cy="219456"/>
          </a:xfrm>
          <a:prstGeom prst="chevron">
            <a:avLst/>
          </a:prstGeom>
          <a:solidFill>
            <a:srgbClr val="49D5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1856232"/>
            <a:ext cx="2606040" cy="1298448"/>
          </a:xfrm>
          <a:prstGeom prst="roundRect">
            <a:avLst>
              <a:gd name="adj" fmla="val 15493"/>
            </a:avLst>
          </a:prstGeom>
          <a:solidFill>
            <a:srgbClr val="151E3A"/>
          </a:solidFill>
          <a:ln w="10160">
            <a:solidFill>
              <a:srgbClr val="334474"/>
            </a:solidFill>
            <a:prstDash val="solid"/>
          </a:ln>
          <a:effectLst>
            <a:outerShdw sx="100000" sy="100000" kx="0" ky="0" algn="bl" rotWithShape="0" blurRad="1.1528156190524098e+198" dist="3.8427187301746993e+197" dir="1.0103515968309554e+231">
              <a:srgbClr val="020515">
                <a:alpha val="3.500000000000001e+239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58952" y="2011680"/>
            <a:ext cx="2276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6B7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ROC-AUC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58952" y="2295144"/>
            <a:ext cx="22768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9D5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0.8833</a:t>
            </a: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3401568" y="1856232"/>
            <a:ext cx="2606040" cy="1298448"/>
          </a:xfrm>
          <a:prstGeom prst="roundRect">
            <a:avLst>
              <a:gd name="adj" fmla="val 15493"/>
            </a:avLst>
          </a:prstGeom>
          <a:solidFill>
            <a:srgbClr val="151E3A"/>
          </a:solidFill>
          <a:ln w="10160">
            <a:solidFill>
              <a:srgbClr val="334474"/>
            </a:solidFill>
            <a:prstDash val="solid"/>
          </a:ln>
          <a:effectLst>
            <a:outerShdw sx="100000" sy="100000" kx="0" ky="0" algn="bl" rotWithShape="0" blurRad="1.4640758361965605e+202" dist="4.880252787321868e+201" dir="6.062109580985733e+235">
              <a:srgbClr val="020515">
                <a:alpha val="3.500000000000001e+244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566160" y="2011680"/>
            <a:ext cx="2276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6B7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PR-AUC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566160" y="2295144"/>
            <a:ext cx="22768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985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0.2254</a:t>
            </a:r>
            <a:endParaRPr lang="en-US" sz="3000" dirty="0"/>
          </a:p>
        </p:txBody>
      </p:sp>
      <p:sp>
        <p:nvSpPr>
          <p:cNvPr id="17" name="Shape 15"/>
          <p:cNvSpPr/>
          <p:nvPr/>
        </p:nvSpPr>
        <p:spPr>
          <a:xfrm>
            <a:off x="6208776" y="1856232"/>
            <a:ext cx="2606040" cy="1298448"/>
          </a:xfrm>
          <a:prstGeom prst="roundRect">
            <a:avLst>
              <a:gd name="adj" fmla="val 15493"/>
            </a:avLst>
          </a:prstGeom>
          <a:solidFill>
            <a:srgbClr val="151E3A"/>
          </a:solidFill>
          <a:ln w="10160">
            <a:solidFill>
              <a:srgbClr val="334474"/>
            </a:solidFill>
            <a:prstDash val="solid"/>
          </a:ln>
          <a:effectLst>
            <a:outerShdw sx="100000" sy="100000" kx="0" ky="0" algn="bl" rotWithShape="0" blurRad="1.8593763119696318e+206" dist="6.197921039898773e+205" dir="3.63726574859144e+240">
              <a:srgbClr val="020515">
                <a:alpha val="3.500000000000001e+249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373368" y="2011680"/>
            <a:ext cx="2276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6B7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PRECISION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73368" y="2295144"/>
            <a:ext cx="22768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5E4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29.15%</a:t>
            </a:r>
            <a:endParaRPr lang="en-US" sz="3000" dirty="0"/>
          </a:p>
        </p:txBody>
      </p:sp>
      <p:sp>
        <p:nvSpPr>
          <p:cNvPr id="20" name="Shape 18"/>
          <p:cNvSpPr/>
          <p:nvPr/>
        </p:nvSpPr>
        <p:spPr>
          <a:xfrm>
            <a:off x="9015984" y="1856232"/>
            <a:ext cx="2606040" cy="1298448"/>
          </a:xfrm>
          <a:prstGeom prst="roundRect">
            <a:avLst>
              <a:gd name="adj" fmla="val 15493"/>
            </a:avLst>
          </a:prstGeom>
          <a:solidFill>
            <a:srgbClr val="151E3A"/>
          </a:solidFill>
          <a:ln w="10160">
            <a:solidFill>
              <a:srgbClr val="334474"/>
            </a:solidFill>
            <a:prstDash val="solid"/>
          </a:ln>
          <a:effectLst>
            <a:outerShdw sx="100000" sy="100000" kx="0" ky="0" algn="bl" rotWithShape="0" blurRad="2.3614079162014322e+210" dist="7.871359720671441e+209" dir="2.182359449154864e+245">
              <a:srgbClr val="020515">
                <a:alpha val="3.5000000000000007e+254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180576" y="2011680"/>
            <a:ext cx="2276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6B7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RECALL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180576" y="2295144"/>
            <a:ext cx="22768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BB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37.12%</a:t>
            </a:r>
            <a:endParaRPr lang="en-US" sz="3000" dirty="0"/>
          </a:p>
        </p:txBody>
      </p:sp>
      <p:sp>
        <p:nvSpPr>
          <p:cNvPr id="23" name="Shape 21"/>
          <p:cNvSpPr/>
          <p:nvPr/>
        </p:nvSpPr>
        <p:spPr>
          <a:xfrm>
            <a:off x="594360" y="3685032"/>
            <a:ext cx="11018520" cy="1353312"/>
          </a:xfrm>
          <a:prstGeom prst="roundRect">
            <a:avLst>
              <a:gd name="adj" fmla="val 14865"/>
            </a:avLst>
          </a:prstGeom>
          <a:solidFill>
            <a:srgbClr val="1C2850"/>
          </a:solidFill>
          <a:ln w="10160">
            <a:solidFill>
              <a:srgbClr val="334474"/>
            </a:solidFill>
            <a:prstDash val="solid"/>
          </a:ln>
          <a:effectLst>
            <a:outerShdw sx="100000" sy="100000" kx="0" ky="0" algn="bl" rotWithShape="0" blurRad="2.9989880535758187e+214" dist="9.996626845252731e+213" dir="1.3094156694929184e+250">
              <a:srgbClr val="020515">
                <a:alpha val="3.5000000000000004e+259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850392" y="39319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6B7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F1 SCORE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3108960" y="3785616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55E4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0.3265</a:t>
            </a:r>
            <a:endParaRPr lang="en-US" sz="3400" dirty="0"/>
          </a:p>
        </p:txBody>
      </p:sp>
      <p:sp>
        <p:nvSpPr>
          <p:cNvPr id="26" name="Text 24"/>
          <p:cNvSpPr/>
          <p:nvPr/>
        </p:nvSpPr>
        <p:spPr>
          <a:xfrm>
            <a:off x="7132320" y="400507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4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threshold: 0.94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58368" y="5596128"/>
            <a:ext cx="10835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6B7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Because the positive class is rare, PR-AUC and F1 are more informative than accuracy alone.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90E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-1097280"/>
            <a:ext cx="3657600" cy="3657600"/>
          </a:xfrm>
          <a:prstGeom prst="ellipse">
            <a:avLst/>
          </a:prstGeom>
          <a:solidFill>
            <a:srgbClr val="9985FF">
              <a:alpha val="6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4937760"/>
            <a:ext cx="3200400" cy="3200400"/>
          </a:xfrm>
          <a:prstGeom prst="ellipse">
            <a:avLst/>
          </a:prstGeom>
          <a:solidFill>
            <a:srgbClr val="49D5FF">
              <a:alpha val="4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657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49D5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 / RECOMMENDATION LOGIC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94360" y="768096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4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Hybrid recommendation engine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594360" y="1481328"/>
            <a:ext cx="11000232" cy="0"/>
          </a:xfrm>
          <a:prstGeom prst="line">
            <a:avLst/>
          </a:prstGeom>
          <a:noFill/>
          <a:ln w="11430">
            <a:solidFill>
              <a:srgbClr val="334474"/>
            </a:solidFill>
            <a:prstDash val="solid"/>
            <a:headEnd type="none"/>
            <a:tailEnd type="none"/>
          </a:ln>
        </p:spPr>
      </p:sp>
      <p:sp>
        <p:nvSpPr>
          <p:cNvPr id="7" name="Text 5"/>
          <p:cNvSpPr/>
          <p:nvPr/>
        </p:nvSpPr>
        <p:spPr>
          <a:xfrm>
            <a:off x="594360" y="652881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6B7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CP2  /  E-COMMERCE AI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698480" y="6528816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B7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 / 16</a:t>
            </a:r>
            <a:endParaRPr lang="en-US" sz="900" dirty="0"/>
          </a:p>
        </p:txBody>
      </p:sp>
      <p:sp>
        <p:nvSpPr>
          <p:cNvPr id="9" name="Shape 7">
            <a:hlinkClick r:id="rId1" tooltip="" action="ppaction://hlinksldjump"/>
          </p:cNvPr>
          <p:cNvSpPr/>
          <p:nvPr/>
        </p:nvSpPr>
        <p:spPr>
          <a:xfrm rot="10800000">
            <a:off x="10469880" y="6419088"/>
            <a:ext cx="210312" cy="219456"/>
          </a:xfrm>
          <a:prstGeom prst="chevron">
            <a:avLst/>
          </a:prstGeom>
          <a:solidFill>
            <a:srgbClr val="A6B7D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0" name="Shape 8">
            <a:hlinkClick r:id="rId2" tooltip="" action="ppaction://hlinksldjump"/>
          </p:cNvPr>
          <p:cNvSpPr/>
          <p:nvPr/>
        </p:nvSpPr>
        <p:spPr>
          <a:xfrm>
            <a:off x="11631168" y="6419088"/>
            <a:ext cx="210312" cy="219456"/>
          </a:xfrm>
          <a:prstGeom prst="chevron">
            <a:avLst/>
          </a:prstGeom>
          <a:solidFill>
            <a:srgbClr val="49D5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1920240"/>
            <a:ext cx="3563112" cy="1417320"/>
          </a:xfrm>
          <a:prstGeom prst="roundRect">
            <a:avLst>
              <a:gd name="adj" fmla="val 14194"/>
            </a:avLst>
          </a:prstGeom>
          <a:solidFill>
            <a:srgbClr val="151E3A"/>
          </a:solidFill>
          <a:ln w="10160">
            <a:solidFill>
              <a:srgbClr val="334474"/>
            </a:solidFill>
            <a:prstDash val="solid"/>
          </a:ln>
          <a:effectLst>
            <a:outerShdw sx="100000" sy="100000" kx="0" ky="0" algn="bl" rotWithShape="0" blurRad="3.80871482804129e+218" dist="1.2695716093470969e+218" dir="7.85649401695751e+254">
              <a:srgbClr val="020515">
                <a:alpha val="3.5000000000000003e+264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" y="2139696"/>
            <a:ext cx="54864" cy="329184"/>
          </a:xfrm>
          <a:prstGeom prst="rect">
            <a:avLst/>
          </a:prstGeom>
          <a:solidFill>
            <a:srgbClr val="49D5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41832" y="2093976"/>
            <a:ext cx="3014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Behavior signals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13816" y="2578608"/>
            <a:ext cx="3124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6B7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View = 1 · Add-to-cart = 3 · Transaction = 5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322064" y="1920240"/>
            <a:ext cx="3563112" cy="1417320"/>
          </a:xfrm>
          <a:prstGeom prst="roundRect">
            <a:avLst>
              <a:gd name="adj" fmla="val 14194"/>
            </a:avLst>
          </a:prstGeom>
          <a:solidFill>
            <a:srgbClr val="151E3A"/>
          </a:solidFill>
          <a:ln w="10160">
            <a:solidFill>
              <a:srgbClr val="334474"/>
            </a:solidFill>
            <a:prstDash val="solid"/>
          </a:ln>
          <a:effectLst>
            <a:outerShdw sx="100000" sy="100000" kx="0" ky="0" algn="bl" rotWithShape="0" blurRad="4.8370678316124384e+222" dist="1.612355943870813e+222" dir="4.713896410174506e+259">
              <a:srgbClr val="020515">
                <a:alpha val="3.5e+269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04944" y="2139696"/>
            <a:ext cx="54864" cy="329184"/>
          </a:xfrm>
          <a:prstGeom prst="rect">
            <a:avLst/>
          </a:prstGeom>
          <a:solidFill>
            <a:srgbClr val="9985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9536" y="2093976"/>
            <a:ext cx="3014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Co-occurrence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541520" y="2578608"/>
            <a:ext cx="3124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6B7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 product pairs from training sessions only.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049768" y="1920240"/>
            <a:ext cx="3563112" cy="1417320"/>
          </a:xfrm>
          <a:prstGeom prst="roundRect">
            <a:avLst>
              <a:gd name="adj" fmla="val 14194"/>
            </a:avLst>
          </a:prstGeom>
          <a:solidFill>
            <a:srgbClr val="151E3A"/>
          </a:solidFill>
          <a:ln w="10160">
            <a:solidFill>
              <a:srgbClr val="334474"/>
            </a:solidFill>
            <a:prstDash val="solid"/>
          </a:ln>
          <a:effectLst>
            <a:outerShdw sx="100000" sy="100000" kx="0" ky="0" algn="bl" rotWithShape="0" blurRad="6.143076146147797e+226" dist="2.0476920487159326e+226" dir="2.8283378461047036e+264">
              <a:srgbClr val="020515">
                <a:alpha val="3.5000000000000004e+274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232648" y="2139696"/>
            <a:ext cx="54864" cy="329184"/>
          </a:xfrm>
          <a:prstGeom prst="rect">
            <a:avLst/>
          </a:prstGeom>
          <a:solidFill>
            <a:srgbClr val="55E4C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97240" y="2093976"/>
            <a:ext cx="3014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Metadata rerank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8269224" y="2578608"/>
            <a:ext cx="3124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6B7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 category ×1.20 · Same parent ×1.10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94360" y="4114800"/>
            <a:ext cx="11018520" cy="1371600"/>
          </a:xfrm>
          <a:prstGeom prst="roundRect">
            <a:avLst>
              <a:gd name="adj" fmla="val 14667"/>
            </a:avLst>
          </a:prstGeom>
          <a:solidFill>
            <a:srgbClr val="1C2850"/>
          </a:solidFill>
          <a:ln w="10160">
            <a:solidFill>
              <a:srgbClr val="334474"/>
            </a:solidFill>
            <a:prstDash val="solid"/>
          </a:ln>
          <a:effectLst>
            <a:outerShdw sx="100000" sy="100000" kx="0" ky="0" algn="bl" rotWithShape="0" blurRad="7.801706705607703e+230" dist="2.6005689018692344e+230" dir="1.6970027076628222e+269">
              <a:srgbClr val="020515">
                <a:alpha val="3.5000000000000005e+279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859536" y="435254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9D5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RECOMMENDATION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59536" y="471830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4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Exclude seen products  →  filter latest availability  →  rank Top-N</a:t>
            </a:r>
            <a:endParaRPr lang="en-US" sz="1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90E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-1097280"/>
            <a:ext cx="3657600" cy="3657600"/>
          </a:xfrm>
          <a:prstGeom prst="ellipse">
            <a:avLst/>
          </a:prstGeom>
          <a:solidFill>
            <a:srgbClr val="9985FF">
              <a:alpha val="6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4937760"/>
            <a:ext cx="3200400" cy="3200400"/>
          </a:xfrm>
          <a:prstGeom prst="ellipse">
            <a:avLst/>
          </a:prstGeom>
          <a:solidFill>
            <a:srgbClr val="49D5FF">
              <a:alpha val="4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657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49D5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 / CHRONOLOGICAL OFFLINE TEST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94360" y="768096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4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Recommendation evaluation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594360" y="1481328"/>
            <a:ext cx="11000232" cy="0"/>
          </a:xfrm>
          <a:prstGeom prst="line">
            <a:avLst/>
          </a:prstGeom>
          <a:noFill/>
          <a:ln w="11430">
            <a:solidFill>
              <a:srgbClr val="334474"/>
            </a:solidFill>
            <a:prstDash val="solid"/>
            <a:headEnd type="none"/>
            <a:tailEnd type="none"/>
          </a:ln>
        </p:spPr>
      </p:sp>
      <p:sp>
        <p:nvSpPr>
          <p:cNvPr id="7" name="Text 5"/>
          <p:cNvSpPr/>
          <p:nvPr/>
        </p:nvSpPr>
        <p:spPr>
          <a:xfrm>
            <a:off x="594360" y="652881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6B7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CP2  /  E-COMMERCE AI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698480" y="6528816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B7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 / 16</a:t>
            </a:r>
            <a:endParaRPr lang="en-US" sz="900" dirty="0"/>
          </a:p>
        </p:txBody>
      </p:sp>
      <p:sp>
        <p:nvSpPr>
          <p:cNvPr id="9" name="Shape 7">
            <a:hlinkClick r:id="rId1" tooltip="" action="ppaction://hlinksldjump"/>
          </p:cNvPr>
          <p:cNvSpPr/>
          <p:nvPr/>
        </p:nvSpPr>
        <p:spPr>
          <a:xfrm rot="10800000">
            <a:off x="10469880" y="6419088"/>
            <a:ext cx="210312" cy="219456"/>
          </a:xfrm>
          <a:prstGeom prst="chevron">
            <a:avLst/>
          </a:prstGeom>
          <a:solidFill>
            <a:srgbClr val="A6B7D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0" name="Shape 8">
            <a:hlinkClick r:id="rId2" tooltip="" action="ppaction://hlinksldjump"/>
          </p:cNvPr>
          <p:cNvSpPr/>
          <p:nvPr/>
        </p:nvSpPr>
        <p:spPr>
          <a:xfrm>
            <a:off x="11631168" y="6419088"/>
            <a:ext cx="210312" cy="219456"/>
          </a:xfrm>
          <a:prstGeom prst="chevron">
            <a:avLst/>
          </a:prstGeom>
          <a:solidFill>
            <a:srgbClr val="49D5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03504" y="1901952"/>
            <a:ext cx="11000232" cy="804672"/>
          </a:xfrm>
          <a:prstGeom prst="roundRect">
            <a:avLst>
              <a:gd name="adj" fmla="val 25000"/>
            </a:avLst>
          </a:prstGeom>
          <a:solidFill>
            <a:srgbClr val="151E3A"/>
          </a:solidFill>
          <a:ln w="10160">
            <a:solidFill>
              <a:srgbClr val="334474"/>
            </a:solidFill>
            <a:prstDash val="solid"/>
          </a:ln>
          <a:effectLst>
            <a:outerShdw sx="100000" sy="100000" kx="0" ky="0" algn="bl" rotWithShape="0" blurRad="9.908167516121783e+234" dist="3.3027225053739275e+234" dir="1.0182016245976934e+274">
              <a:srgbClr val="020515">
                <a:alpha val="3.5e+284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41248" y="213055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Hit Rate@5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5486400" y="213055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6B7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25.48%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485632" y="213055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5E4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26.19%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03504" y="2852928"/>
            <a:ext cx="11000232" cy="804672"/>
          </a:xfrm>
          <a:prstGeom prst="roundRect">
            <a:avLst>
              <a:gd name="adj" fmla="val 25000"/>
            </a:avLst>
          </a:prstGeom>
          <a:solidFill>
            <a:srgbClr val="1C2850"/>
          </a:solidFill>
          <a:ln w="10160">
            <a:solidFill>
              <a:srgbClr val="334474"/>
            </a:solidFill>
            <a:prstDash val="solid"/>
          </a:ln>
          <a:effectLst>
            <a:outerShdw sx="100000" sy="100000" kx="0" ky="0" algn="bl" rotWithShape="0" blurRad="1.2583372745474664e+239" dist="4.194457581824888e+238" dir="6.10920974758616e+278">
              <a:srgbClr val="020515">
                <a:alpha val="3.5e+289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41248" y="308152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Hit Rate@10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5486400" y="308152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6B7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32.27%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485632" y="308152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5E4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33.21%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03504" y="3803904"/>
            <a:ext cx="11000232" cy="804672"/>
          </a:xfrm>
          <a:prstGeom prst="roundRect">
            <a:avLst>
              <a:gd name="adj" fmla="val 25000"/>
            </a:avLst>
          </a:prstGeom>
          <a:solidFill>
            <a:srgbClr val="151E3A"/>
          </a:solidFill>
          <a:ln w="10160">
            <a:solidFill>
              <a:srgbClr val="334474"/>
            </a:solidFill>
            <a:prstDash val="solid"/>
          </a:ln>
          <a:effectLst>
            <a:outerShdw sx="100000" sy="100000" kx="0" ky="0" algn="bl" rotWithShape="0" blurRad="1.5980883386752823e+243" dist="5.326961128917608e+242" dir="3.6655258485516963e+283">
              <a:srgbClr val="020515">
                <a:alpha val="3.5e+294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41248" y="403250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MRR@10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5486400" y="4032504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6B7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0.1682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485632" y="403250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5E4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0.1721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603504" y="4754880"/>
            <a:ext cx="11000232" cy="804672"/>
          </a:xfrm>
          <a:prstGeom prst="roundRect">
            <a:avLst>
              <a:gd name="adj" fmla="val 25000"/>
            </a:avLst>
          </a:prstGeom>
          <a:solidFill>
            <a:srgbClr val="1C2850"/>
          </a:solidFill>
          <a:ln w="10160">
            <a:solidFill>
              <a:srgbClr val="334474"/>
            </a:solidFill>
            <a:prstDash val="solid"/>
          </a:ln>
          <a:effectLst>
            <a:outerShdw sx="100000" sy="100000" kx="0" ky="0" algn="bl" rotWithShape="0" blurRad="2.0295721901176086e+247" dist="6.765240633725363e+246" dir="2.1993155091310177e+288">
              <a:srgbClr val="020515">
                <a:alpha val="3.5e+299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841248" y="49834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Coverage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5486400" y="49834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6B7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88.22%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8485632" y="498348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5E4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88.22%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394960" y="158191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6B7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BEHAVIORAL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503920" y="158191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5E4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HYBRID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58368" y="6016752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6B7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Bonuses were compared on this offline evaluation period; it is not an untouched final holdout.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90E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-1097280"/>
            <a:ext cx="3657600" cy="3657600"/>
          </a:xfrm>
          <a:prstGeom prst="ellipse">
            <a:avLst/>
          </a:prstGeom>
          <a:solidFill>
            <a:srgbClr val="9985FF">
              <a:alpha val="6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4937760"/>
            <a:ext cx="3200400" cy="3200400"/>
          </a:xfrm>
          <a:prstGeom prst="ellipse">
            <a:avLst/>
          </a:prstGeom>
          <a:solidFill>
            <a:srgbClr val="49D5FF">
              <a:alpha val="4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657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49D5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 / INTERACTIVE 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94360" y="768096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4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Streamlit deployment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594360" y="1481328"/>
            <a:ext cx="11000232" cy="0"/>
          </a:xfrm>
          <a:prstGeom prst="line">
            <a:avLst/>
          </a:prstGeom>
          <a:noFill/>
          <a:ln w="11430">
            <a:solidFill>
              <a:srgbClr val="334474"/>
            </a:solidFill>
            <a:prstDash val="solid"/>
            <a:headEnd type="none"/>
            <a:tailEnd type="none"/>
          </a:ln>
        </p:spPr>
      </p:sp>
      <p:sp>
        <p:nvSpPr>
          <p:cNvPr id="7" name="Text 5"/>
          <p:cNvSpPr/>
          <p:nvPr/>
        </p:nvSpPr>
        <p:spPr>
          <a:xfrm>
            <a:off x="594360" y="652881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6B7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CP2  /  E-COMMERCE AI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698480" y="6528816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B7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 / 16</a:t>
            </a:r>
            <a:endParaRPr lang="en-US" sz="900" dirty="0"/>
          </a:p>
        </p:txBody>
      </p:sp>
      <p:sp>
        <p:nvSpPr>
          <p:cNvPr id="9" name="Shape 7">
            <a:hlinkClick r:id="rId1" tooltip="" action="ppaction://hlinksldjump"/>
          </p:cNvPr>
          <p:cNvSpPr/>
          <p:nvPr/>
        </p:nvSpPr>
        <p:spPr>
          <a:xfrm rot="10800000">
            <a:off x="10469880" y="6419088"/>
            <a:ext cx="210312" cy="219456"/>
          </a:xfrm>
          <a:prstGeom prst="chevron">
            <a:avLst/>
          </a:prstGeom>
          <a:solidFill>
            <a:srgbClr val="A6B7D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0" name="Shape 8">
            <a:hlinkClick r:id="rId2" tooltip="" action="ppaction://hlinksldjump"/>
          </p:cNvPr>
          <p:cNvSpPr/>
          <p:nvPr/>
        </p:nvSpPr>
        <p:spPr>
          <a:xfrm>
            <a:off x="11631168" y="6419088"/>
            <a:ext cx="210312" cy="219456"/>
          </a:xfrm>
          <a:prstGeom prst="chevron">
            <a:avLst/>
          </a:prstGeom>
          <a:solidFill>
            <a:srgbClr val="49D5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1938528"/>
            <a:ext cx="2631186" cy="1417320"/>
          </a:xfrm>
          <a:prstGeom prst="roundRect">
            <a:avLst>
              <a:gd name="adj" fmla="val 14194"/>
            </a:avLst>
          </a:prstGeom>
          <a:solidFill>
            <a:srgbClr val="151E3A"/>
          </a:solidFill>
          <a:ln w="10160">
            <a:solidFill>
              <a:srgbClr val="334474"/>
            </a:solidFill>
            <a:prstDash val="solid"/>
          </a:ln>
          <a:effectLst>
            <a:outerShdw sx="100000" sy="100000" kx="0" ky="0" algn="bl" rotWithShape="0" blurRad="2.577556681449363e+251" dist="8.59185560483121e+250" dir="1.3195893054786106e+293">
              <a:srgbClr val="020515">
                <a:alpha val="3.5000000000000003e+304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" y="2157984"/>
            <a:ext cx="54864" cy="329184"/>
          </a:xfrm>
          <a:prstGeom prst="rect">
            <a:avLst/>
          </a:prstGeom>
          <a:solidFill>
            <a:srgbClr val="49D5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41832" y="2112264"/>
            <a:ext cx="208254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Dashboard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13816" y="2596896"/>
            <a:ext cx="219227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6B7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overview and dataset metrics.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390138" y="1938528"/>
            <a:ext cx="2631186" cy="1417320"/>
          </a:xfrm>
          <a:prstGeom prst="roundRect">
            <a:avLst>
              <a:gd name="adj" fmla="val 14194"/>
            </a:avLst>
          </a:prstGeom>
          <a:solidFill>
            <a:srgbClr val="151E3A"/>
          </a:solidFill>
          <a:ln w="10160">
            <a:solidFill>
              <a:srgbClr val="334474"/>
            </a:solidFill>
            <a:prstDash val="solid"/>
          </a:ln>
          <a:effectLst>
            <a:outerShdw sx="100000" sy="100000" kx="0" ky="0" algn="bl" rotWithShape="0" blurRad="3.273496985440691e+255" dist="1.0911656618135637e+255" dir="7.917535832871664e+297">
              <a:srgbClr val="020515">
                <a:alpha val="Infinity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573018" y="2157984"/>
            <a:ext cx="54864" cy="329184"/>
          </a:xfrm>
          <a:prstGeom prst="rect">
            <a:avLst/>
          </a:prstGeom>
          <a:solidFill>
            <a:srgbClr val="9985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37610" y="2112264"/>
            <a:ext cx="208254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Purchase intent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3609594" y="2596896"/>
            <a:ext cx="219227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6B7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12-feature form + ANN inference.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85916" y="1938528"/>
            <a:ext cx="2631186" cy="1417320"/>
          </a:xfrm>
          <a:prstGeom prst="roundRect">
            <a:avLst>
              <a:gd name="adj" fmla="val 14194"/>
            </a:avLst>
          </a:prstGeom>
          <a:solidFill>
            <a:srgbClr val="151E3A"/>
          </a:solidFill>
          <a:ln w="10160">
            <a:solidFill>
              <a:srgbClr val="334474"/>
            </a:solidFill>
            <a:prstDash val="solid"/>
          </a:ln>
          <a:effectLst>
            <a:outerShdw sx="100000" sy="100000" kx="0" ky="0" algn="bl" rotWithShape="0" blurRad="4.1573411715096775e+259" dist="1.3857803905032259e+259" dir="4.750521499722998e+302">
              <a:srgbClr val="020515">
                <a:alpha val="Infinity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368796" y="2157984"/>
            <a:ext cx="54864" cy="329184"/>
          </a:xfrm>
          <a:prstGeom prst="rect">
            <a:avLst/>
          </a:prstGeom>
          <a:solidFill>
            <a:srgbClr val="55E4C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33388" y="2112264"/>
            <a:ext cx="208254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Recommendations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6405372" y="2596896"/>
            <a:ext cx="219227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6B7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Top-N ranked products + availability.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981694" y="1938528"/>
            <a:ext cx="2631186" cy="1417320"/>
          </a:xfrm>
          <a:prstGeom prst="roundRect">
            <a:avLst>
              <a:gd name="adj" fmla="val 14194"/>
            </a:avLst>
          </a:prstGeom>
          <a:solidFill>
            <a:srgbClr val="151E3A"/>
          </a:solidFill>
          <a:ln w="10160">
            <a:solidFill>
              <a:srgbClr val="334474"/>
            </a:solidFill>
            <a:prstDash val="solid"/>
          </a:ln>
          <a:effectLst>
            <a:outerShdw sx="100000" sy="100000" kx="0" ky="0" algn="bl" rotWithShape="0" blurRad="5.27982328781729e+263" dist="1.759941095939097e+263" dir="2.850312899833799e+307">
              <a:srgbClr val="020515">
                <a:alpha val="Infinity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164574" y="2157984"/>
            <a:ext cx="54864" cy="329184"/>
          </a:xfrm>
          <a:prstGeom prst="rect">
            <a:avLst/>
          </a:prstGeom>
          <a:solidFill>
            <a:srgbClr val="F27DD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329166" y="2112264"/>
            <a:ext cx="208254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Performance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9201150" y="2596896"/>
            <a:ext cx="219227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6B7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 and recommender results.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94360" y="4151376"/>
            <a:ext cx="11018520" cy="1252728"/>
          </a:xfrm>
          <a:prstGeom prst="roundRect">
            <a:avLst>
              <a:gd name="adj" fmla="val 16058"/>
            </a:avLst>
          </a:prstGeom>
          <a:solidFill>
            <a:srgbClr val="1C2850"/>
          </a:solidFill>
          <a:ln w="10160">
            <a:solidFill>
              <a:srgbClr val="334474"/>
            </a:solidFill>
            <a:prstDash val="solid"/>
          </a:ln>
          <a:effectLst>
            <a:outerShdw sx="100000" sy="100000" kx="0" ky="0" algn="bl" rotWithShape="0" blurRad="6.705375575527958e+267" dist="2.235125191842653e+267" dir="Infinity">
              <a:srgbClr val="020515">
                <a:alpha val="Infinity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868680" y="439826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9D5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ARTIFACTS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68680" y="4754880"/>
            <a:ext cx="10287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.keras  +  scaler.pkl  +  configs.json  +  neighbors.pkl  +  metadata.pkl</a:t>
            </a:r>
            <a:endParaRPr lang="en-US" sz="1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90E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-1097280"/>
            <a:ext cx="3657600" cy="3657600"/>
          </a:xfrm>
          <a:prstGeom prst="ellipse">
            <a:avLst/>
          </a:prstGeom>
          <a:solidFill>
            <a:srgbClr val="9985FF">
              <a:alpha val="6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4937760"/>
            <a:ext cx="3200400" cy="3200400"/>
          </a:xfrm>
          <a:prstGeom prst="ellipse">
            <a:avLst/>
          </a:prstGeom>
          <a:solidFill>
            <a:srgbClr val="49D5FF">
              <a:alpha val="4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657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49D5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 / FINAL INTERFACE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94360" y="768096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4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application preview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594360" y="1481328"/>
            <a:ext cx="11000232" cy="0"/>
          </a:xfrm>
          <a:prstGeom prst="line">
            <a:avLst/>
          </a:prstGeom>
          <a:noFill/>
          <a:ln w="11430">
            <a:solidFill>
              <a:srgbClr val="334474"/>
            </a:solidFill>
            <a:prstDash val="solid"/>
            <a:headEnd type="none"/>
            <a:tailEnd type="none"/>
          </a:ln>
        </p:spPr>
      </p:sp>
      <p:sp>
        <p:nvSpPr>
          <p:cNvPr id="7" name="Text 5"/>
          <p:cNvSpPr/>
          <p:nvPr/>
        </p:nvSpPr>
        <p:spPr>
          <a:xfrm>
            <a:off x="594360" y="652881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6B7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CP2  /  E-COMMERCE AI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698480" y="6528816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B7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 / 16</a:t>
            </a:r>
            <a:endParaRPr lang="en-US" sz="900" dirty="0"/>
          </a:p>
        </p:txBody>
      </p:sp>
      <p:sp>
        <p:nvSpPr>
          <p:cNvPr id="9" name="Shape 7">
            <a:hlinkClick r:id="rId1" tooltip="" action="ppaction://hlinksldjump"/>
          </p:cNvPr>
          <p:cNvSpPr/>
          <p:nvPr/>
        </p:nvSpPr>
        <p:spPr>
          <a:xfrm rot="10800000">
            <a:off x="10469880" y="6419088"/>
            <a:ext cx="210312" cy="219456"/>
          </a:xfrm>
          <a:prstGeom prst="chevron">
            <a:avLst/>
          </a:prstGeom>
          <a:solidFill>
            <a:srgbClr val="A6B7D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0" name="Shape 8">
            <a:hlinkClick r:id="rId2" tooltip="" action="ppaction://hlinksldjump"/>
          </p:cNvPr>
          <p:cNvSpPr/>
          <p:nvPr/>
        </p:nvSpPr>
        <p:spPr>
          <a:xfrm>
            <a:off x="11631168" y="6419088"/>
            <a:ext cx="210312" cy="219456"/>
          </a:xfrm>
          <a:prstGeom prst="chevron">
            <a:avLst/>
          </a:prstGeom>
          <a:solidFill>
            <a:srgbClr val="49D5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pic>
        <p:nvPicPr>
          <p:cNvPr id="11" name="Image 0" descr="/mnt/data/image(6)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737360"/>
            <a:ext cx="10936224" cy="4233672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594360" y="1737360"/>
            <a:ext cx="10936224" cy="4233672"/>
          </a:xfrm>
          <a:prstGeom prst="roundRect">
            <a:avLst>
              <a:gd name="adj" fmla="val 3456"/>
            </a:avLst>
          </a:prstGeom>
          <a:solidFill>
            <a:srgbClr val="090E20">
              <a:alpha val="0"/>
            </a:srgbClr>
          </a:solidFill>
          <a:ln w="15240">
            <a:solidFill>
              <a:srgbClr val="33447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85800" y="6071616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6B7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Dark-themed Streamlit model-performance view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90E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-1097280"/>
            <a:ext cx="3657600" cy="3657600"/>
          </a:xfrm>
          <a:prstGeom prst="ellipse">
            <a:avLst/>
          </a:prstGeom>
          <a:solidFill>
            <a:srgbClr val="9985FF">
              <a:alpha val="6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4937760"/>
            <a:ext cx="3200400" cy="3200400"/>
          </a:xfrm>
          <a:prstGeom prst="ellipse">
            <a:avLst/>
          </a:prstGeom>
          <a:solidFill>
            <a:srgbClr val="49D5FF">
              <a:alpha val="4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657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49D5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 / TAKEAWAYS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94360" y="768096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4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Conclusion &amp; next steps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594360" y="1481328"/>
            <a:ext cx="11000232" cy="0"/>
          </a:xfrm>
          <a:prstGeom prst="line">
            <a:avLst/>
          </a:prstGeom>
          <a:noFill/>
          <a:ln w="11430">
            <a:solidFill>
              <a:srgbClr val="334474"/>
            </a:solidFill>
            <a:prstDash val="solid"/>
            <a:headEnd type="none"/>
            <a:tailEnd type="none"/>
          </a:ln>
        </p:spPr>
      </p:sp>
      <p:sp>
        <p:nvSpPr>
          <p:cNvPr id="7" name="Text 5"/>
          <p:cNvSpPr/>
          <p:nvPr/>
        </p:nvSpPr>
        <p:spPr>
          <a:xfrm>
            <a:off x="594360" y="652881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6B7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CP2  /  E-COMMERCE AI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698480" y="6528816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B7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 / 16</a:t>
            </a:r>
            <a:endParaRPr lang="en-US" sz="900" dirty="0"/>
          </a:p>
        </p:txBody>
      </p:sp>
      <p:sp>
        <p:nvSpPr>
          <p:cNvPr id="9" name="Shape 7">
            <a:hlinkClick r:id="rId1" tooltip="" action="ppaction://hlinksldjump"/>
          </p:cNvPr>
          <p:cNvSpPr/>
          <p:nvPr/>
        </p:nvSpPr>
        <p:spPr>
          <a:xfrm rot="10800000">
            <a:off x="10469880" y="6419088"/>
            <a:ext cx="210312" cy="219456"/>
          </a:xfrm>
          <a:prstGeom prst="chevron">
            <a:avLst/>
          </a:prstGeom>
          <a:solidFill>
            <a:srgbClr val="A6B7D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4360" y="1874520"/>
            <a:ext cx="3563112" cy="1417320"/>
          </a:xfrm>
          <a:prstGeom prst="roundRect">
            <a:avLst>
              <a:gd name="adj" fmla="val 14194"/>
            </a:avLst>
          </a:prstGeom>
          <a:solidFill>
            <a:srgbClr val="151E3A"/>
          </a:solidFill>
          <a:ln w="10160">
            <a:solidFill>
              <a:srgbClr val="334474"/>
            </a:solidFill>
            <a:prstDash val="solid"/>
          </a:ln>
          <a:effectLst>
            <a:outerShdw sx="100000" sy="100000" kx="0" ky="0" algn="bl" rotWithShape="0" blurRad="8.515826980920506e+271" dist="2.8386089936401693e+271" dir="Infinity">
              <a:srgbClr val="020515">
                <a:alpha val="Infinity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77240" y="2093976"/>
            <a:ext cx="54864" cy="329184"/>
          </a:xfrm>
          <a:prstGeom prst="rect">
            <a:avLst/>
          </a:prstGeom>
          <a:solidFill>
            <a:srgbClr val="49D5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41832" y="2048256"/>
            <a:ext cx="3014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Built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13816" y="2532888"/>
            <a:ext cx="3124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6B7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working ANN + hybrid recommender platform.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322064" y="1874520"/>
            <a:ext cx="3563112" cy="1417320"/>
          </a:xfrm>
          <a:prstGeom prst="roundRect">
            <a:avLst>
              <a:gd name="adj" fmla="val 14194"/>
            </a:avLst>
          </a:prstGeom>
          <a:solidFill>
            <a:srgbClr val="151E3A"/>
          </a:solidFill>
          <a:ln w="10160">
            <a:solidFill>
              <a:srgbClr val="334474"/>
            </a:solidFill>
            <a:prstDash val="solid"/>
          </a:ln>
          <a:effectLst>
            <a:outerShdw sx="100000" sy="100000" kx="0" ky="0" algn="bl" rotWithShape="0" blurRad="1.0815100265769043e+276" dist="3.605033421923015e+275" dir="Infinity">
              <a:srgbClr val="020515">
                <a:alpha val="Infinity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04944" y="2093976"/>
            <a:ext cx="54864" cy="329184"/>
          </a:xfrm>
          <a:prstGeom prst="rect">
            <a:avLst/>
          </a:prstGeom>
          <a:solidFill>
            <a:srgbClr val="9985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69536" y="2048256"/>
            <a:ext cx="3014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Validated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541520" y="2532888"/>
            <a:ext cx="3124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6B7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Chronological splits and transparent evaluation.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049768" y="1874520"/>
            <a:ext cx="3563112" cy="1417320"/>
          </a:xfrm>
          <a:prstGeom prst="roundRect">
            <a:avLst>
              <a:gd name="adj" fmla="val 14194"/>
            </a:avLst>
          </a:prstGeom>
          <a:solidFill>
            <a:srgbClr val="151E3A"/>
          </a:solidFill>
          <a:ln w="10160">
            <a:solidFill>
              <a:srgbClr val="334474"/>
            </a:solidFill>
            <a:prstDash val="solid"/>
          </a:ln>
          <a:effectLst>
            <a:outerShdw sx="100000" sy="100000" kx="0" ky="0" algn="bl" rotWithShape="0" blurRad="1.3735177337526685e+280" dist="4.578392445842229e+279" dir="Infinity">
              <a:srgbClr val="020515">
                <a:alpha val="Infinity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232648" y="2093976"/>
            <a:ext cx="54864" cy="329184"/>
          </a:xfrm>
          <a:prstGeom prst="rect">
            <a:avLst/>
          </a:prstGeom>
          <a:solidFill>
            <a:srgbClr val="55E4C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97240" y="2048256"/>
            <a:ext cx="3014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Deployed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8269224" y="2532888"/>
            <a:ext cx="3124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6B7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Interactive local Streamlit application.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94360" y="4160520"/>
            <a:ext cx="11018520" cy="1316736"/>
          </a:xfrm>
          <a:prstGeom prst="roundRect">
            <a:avLst>
              <a:gd name="adj" fmla="val 15278"/>
            </a:avLst>
          </a:prstGeom>
          <a:solidFill>
            <a:srgbClr val="1C2850"/>
          </a:solidFill>
          <a:ln w="10160">
            <a:solidFill>
              <a:srgbClr val="334474"/>
            </a:solidFill>
            <a:prstDash val="solid"/>
          </a:ln>
          <a:effectLst>
            <a:outerShdw sx="100000" sy="100000" kx="0" ky="0" algn="bl" rotWithShape="0" blurRad="1.744367521865889e+284" dist="5.8145584062196306e+283" dir="Infinity">
              <a:srgbClr val="020515">
                <a:alpha val="Infinity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68680" y="440740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9D5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LIMITATIONS &amp; FUTURE WORK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68680" y="4773168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Anonymous product IDs · Historical availability · Final holdout · Product images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685800" y="5980176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9985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THANK YOU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E-Commerce AI Intelligence Platform</dc:title>
  <dc:subject>E-Commerce AI Intelligence Platform</dc:subject>
  <dc:creator>Capstone Project 2</dc:creator>
  <cp:lastModifiedBy>Capstone Project 2</cp:lastModifiedBy>
  <cp:revision>1</cp:revision>
  <dcterms:created xsi:type="dcterms:W3CDTF">2026-10-08T04:43:52Z</dcterms:created>
  <dcterms:modified xsi:type="dcterms:W3CDTF">2026-10-08T04:43:52Z</dcterms:modified>
</cp:coreProperties>
</file>